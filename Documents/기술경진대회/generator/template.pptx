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90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08" r:id="rId2"/>
  </p:sldMasterIdLst>
  <p:notesMasterIdLst>
    <p:notesMasterId r:id="rId24"/>
  </p:notesMasterIdLst>
  <p:handoutMasterIdLst>
    <p:handoutMasterId r:id="rId25"/>
  </p:handoutMasterIdLst>
  <p:sldIdLst>
    <p:sldId id="257" r:id="rId3"/>
    <p:sldId id="601" r:id="rId23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597D"/>
    <a:srgbClr val="7E0000"/>
    <a:srgbClr val="EAEFF7"/>
    <a:srgbClr val="F4F5F8"/>
    <a:srgbClr val="7F7F7F"/>
    <a:srgbClr val="FF9900"/>
    <a:srgbClr val="033AA9"/>
    <a:srgbClr val="000000"/>
    <a:srgbClr val="333857"/>
    <a:srgbClr val="3C43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98" autoAdjust="0"/>
    <p:restoredTop sz="96391" autoAdjust="0"/>
  </p:normalViewPr>
  <p:slideViewPr>
    <p:cSldViewPr snapToGrid="0">
      <p:cViewPr varScale="1">
        <p:scale>
          <a:sx n="109" d="100"/>
          <a:sy n="109" d="100"/>
        </p:scale>
        <p:origin x="106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23" Type="http://schemas.openxmlformats.org/officeDocument/2006/relationships/slide" Target="slides/slide900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9" y="0"/>
            <a:ext cx="2946400" cy="496888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r">
              <a:defRPr sz="1200"/>
            </a:lvl1pPr>
          </a:lstStyle>
          <a:p>
            <a:fld id="{5BDFFC02-3EDF-4AB8-B6F8-B02BE7C4FEFB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165"/>
            <a:ext cx="2946400" cy="496887"/>
          </a:xfrm>
          <a:prstGeom prst="rect">
            <a:avLst/>
          </a:prstGeom>
        </p:spPr>
        <p:txBody>
          <a:bodyPr vert="horz" lIns="91426" tIns="45713" rIns="91426" bIns="4571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9" y="9428165"/>
            <a:ext cx="2946400" cy="496887"/>
          </a:xfrm>
          <a:prstGeom prst="rect">
            <a:avLst/>
          </a:prstGeom>
        </p:spPr>
        <p:txBody>
          <a:bodyPr vert="horz" lIns="91426" tIns="45713" rIns="91426" bIns="45713" rtlCol="0" anchor="b"/>
          <a:lstStyle>
            <a:lvl1pPr algn="r">
              <a:defRPr sz="1200"/>
            </a:lvl1pPr>
          </a:lstStyle>
          <a:p>
            <a:fld id="{C5EF9307-5DFF-42BB-B3E3-75600E2C8D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1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9" y="0"/>
            <a:ext cx="2946400" cy="496888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r">
              <a:defRPr sz="1200"/>
            </a:lvl1pPr>
          </a:lstStyle>
          <a:p>
            <a:fld id="{1146BF4A-134A-4EE8-B76C-B0221396856D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6" tIns="45713" rIns="91426" bIns="4571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2" y="4714877"/>
            <a:ext cx="5438775" cy="4467225"/>
          </a:xfrm>
          <a:prstGeom prst="rect">
            <a:avLst/>
          </a:prstGeom>
        </p:spPr>
        <p:txBody>
          <a:bodyPr vert="horz" lIns="91426" tIns="45713" rIns="91426" bIns="4571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5"/>
            <a:ext cx="2946400" cy="496887"/>
          </a:xfrm>
          <a:prstGeom prst="rect">
            <a:avLst/>
          </a:prstGeom>
        </p:spPr>
        <p:txBody>
          <a:bodyPr vert="horz" lIns="91426" tIns="45713" rIns="91426" bIns="4571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9" y="9428165"/>
            <a:ext cx="2946400" cy="496887"/>
          </a:xfrm>
          <a:prstGeom prst="rect">
            <a:avLst/>
          </a:prstGeom>
        </p:spPr>
        <p:txBody>
          <a:bodyPr vert="horz" lIns="91426" tIns="45713" rIns="91426" bIns="45713" rtlCol="0" anchor="b"/>
          <a:lstStyle>
            <a:lvl1pPr algn="r">
              <a:defRPr sz="1200"/>
            </a:lvl1pPr>
          </a:lstStyle>
          <a:p>
            <a:fld id="{E741A83C-D21A-46A4-97DB-B6601E2E6B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67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41A83C-D21A-46A4-97DB-B6601E2E6BA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82797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0B86-B9BA-44CD-9356-3825FC094550}" type="datetimeFigureOut">
              <a:rPr lang="ko-KR" altLang="en-US" smtClean="0"/>
              <a:t>2025-10-30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5318-9859-41FC-9CC6-E0A7669F85E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3571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 userDrawn="1"/>
        </p:nvSpPr>
        <p:spPr>
          <a:xfrm rot="5400000">
            <a:off x="-3130550" y="3130550"/>
            <a:ext cx="6858000" cy="596900"/>
          </a:xfrm>
          <a:prstGeom prst="rect">
            <a:avLst/>
          </a:prstGeom>
          <a:gradFill>
            <a:gsLst>
              <a:gs pos="0">
                <a:srgbClr val="2C314F"/>
              </a:gs>
              <a:gs pos="100000">
                <a:srgbClr val="3D446F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6000" rtlCol="0" anchor="ctr"/>
          <a:lstStyle/>
          <a:p>
            <a:r>
              <a:rPr lang="en-US" altLang="ko-KR" sz="1400" dirty="0">
                <a:solidFill>
                  <a:prstClr val="white"/>
                </a:solidFill>
              </a:rPr>
              <a:t>KOREA ELECTRO OPTICS CO., LTD.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568" y="565234"/>
            <a:ext cx="385763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786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한국전광_L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 flipV="1">
            <a:off x="0" y="672862"/>
            <a:ext cx="12192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sz="1800"/>
          </a:p>
        </p:txBody>
      </p:sp>
      <p:sp>
        <p:nvSpPr>
          <p:cNvPr id="5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165600" y="6382237"/>
            <a:ext cx="3860800" cy="365125"/>
          </a:xfrm>
          <a:prstGeom prst="rect">
            <a:avLst/>
          </a:prstGeom>
        </p:spPr>
        <p:txBody>
          <a:bodyPr/>
          <a:lstStyle>
            <a:lvl1pPr eaLnBrk="1" latinLnBrk="1" hangingPunct="1">
              <a:defRPr/>
            </a:lvl1pPr>
          </a:lstStyle>
          <a:p>
            <a:endParaRPr lang="ko-KR" altLang="en-US" dirty="0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293913" y="7938"/>
            <a:ext cx="11197167" cy="707366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chemeClr val="tx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4170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6014" y="6434130"/>
            <a:ext cx="1705985" cy="41818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0" y="6434131"/>
            <a:ext cx="27334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smtClean="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열린</a:t>
            </a:r>
            <a:r>
              <a:rPr lang="ko-KR" altLang="en-US" sz="1000" b="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마음 </a:t>
            </a:r>
            <a:r>
              <a:rPr lang="en-US" altLang="ko-KR" sz="1000" b="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/ </a:t>
            </a:r>
            <a:r>
              <a:rPr lang="ko-KR" altLang="en-US" sz="1000" b="1" dirty="0" smtClean="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신뢰</a:t>
            </a:r>
            <a:r>
              <a:rPr lang="ko-KR" altLang="en-US" sz="1000" b="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받는 행동 </a:t>
            </a:r>
            <a:r>
              <a:rPr lang="en-US" altLang="ko-KR" sz="1000" b="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/ </a:t>
            </a:r>
            <a:r>
              <a:rPr lang="ko-KR" altLang="en-US" sz="1000" b="1" dirty="0" smtClean="0">
                <a:solidFill>
                  <a:schemeClr val="tx2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투명</a:t>
            </a:r>
            <a:r>
              <a:rPr lang="ko-KR" altLang="en-US" sz="1000" b="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한 </a:t>
            </a:r>
            <a:r>
              <a:rPr lang="en-US" altLang="ko-KR" sz="1000" b="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Process</a:t>
            </a:r>
            <a:endParaRPr lang="ko-KR" altLang="en-US" sz="1000" b="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554232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615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769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1015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023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206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65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3577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829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4718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0598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4768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3595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500B86-B9BA-44CD-9356-3825FC094550}" type="datetimeFigureOut">
              <a:rPr lang="ko-KR" altLang="en-US" smtClean="0"/>
              <a:t>2025-10-30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E5318-9859-41FC-9CC6-E0A7669F85E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9455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721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EBA64-F2B3-4EF2-80F2-66BDDA877748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309F1-1C4C-4448-8C2A-FB225C00FE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540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9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5845659" y="2192636"/>
            <a:ext cx="5679592" cy="1232021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Microsoft JhengHei" panose="020B0604030504040204" pitchFamily="34" charset="-120"/>
            </a:endParaRPr>
          </a:p>
        </p:txBody>
      </p:sp>
      <p:sp>
        <p:nvSpPr>
          <p:cNvPr id="5" name="직사각형 4"/>
          <p:cNvSpPr/>
          <p:nvPr/>
        </p:nvSpPr>
        <p:spPr>
          <a:xfrm rot="5400000">
            <a:off x="-3130550" y="3130550"/>
            <a:ext cx="6858000" cy="596900"/>
          </a:xfrm>
          <a:prstGeom prst="rect">
            <a:avLst/>
          </a:prstGeom>
          <a:gradFill>
            <a:gsLst>
              <a:gs pos="0">
                <a:srgbClr val="2C314F"/>
              </a:gs>
              <a:gs pos="100000">
                <a:srgbClr val="3D446F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6000" rtlCol="0" anchor="ctr"/>
          <a:lstStyle/>
          <a:p>
            <a:r>
              <a:rPr lang="en-US" altLang="ko-KR" sz="1400" dirty="0">
                <a:solidFill>
                  <a:prstClr val="white"/>
                </a:solidFill>
              </a:rPr>
              <a:t>KOREA ELECTRO OPTICS CO., LTD.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68" y="565234"/>
            <a:ext cx="385763" cy="3810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9306" y="505153"/>
            <a:ext cx="1809751" cy="501161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686119" y="1642085"/>
            <a:ext cx="11595099" cy="33134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endParaRPr lang="en-US" altLang="ko-KR" sz="4800" b="1" dirty="0">
              <a:solidFill>
                <a:srgbClr val="2C314F"/>
              </a:solidFill>
              <a:latin typeface="+mj-lt"/>
              <a:ea typeface="맑은 고딕" panose="020B0503020000020004" pitchFamily="50" charset="-127"/>
              <a:cs typeface="Aharoni" panose="02010803020104030203" pitchFamily="2" charset="-79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89785" y="1780054"/>
            <a:ext cx="11595099" cy="33134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5400" b="1" dirty="0" smtClean="0">
                <a:solidFill>
                  <a:srgbClr val="002060"/>
                </a:solidFill>
                <a:latin typeface="HY견고딕"/>
                <a:cs typeface="Aharoni" panose="02010803020104030203" pitchFamily="2" charset="-79"/>
                <a:ea typeface="HY견고딕"/>
              </a:rPr>
              <a:t>피드포워드 오토포커스</a:t>
            </a:r>
            <a:endParaRPr lang="en-US" altLang="ko-KR" sz="5400" b="1" dirty="0">
              <a:solidFill>
                <a:srgbClr val="2C314F"/>
              </a:solidFill>
              <a:cs typeface="Aharoni" panose="02010803020104030203" pitchFamily="2" charset="-79"/>
            </a:endParaRPr>
          </a:p>
          <a:p>
            <a:pPr algn="ctr">
              <a:lnSpc>
                <a:spcPct val="150000"/>
              </a:lnSpc>
            </a:pPr>
            <a:endParaRPr lang="en-US" altLang="ko-KR" b="1" dirty="0">
              <a:solidFill>
                <a:srgbClr val="2C314F"/>
              </a:solidFill>
              <a:latin typeface="+mj-lt"/>
              <a:ea typeface="맑은 고딕" panose="020B0503020000020004" pitchFamily="50" charset="-127"/>
              <a:cs typeface="Aharoni" panose="02010803020104030203" pitchFamily="2" charset="-79"/>
            </a:endParaRPr>
          </a:p>
          <a:p>
            <a:pPr algn="ctr">
              <a:lnSpc>
                <a:spcPct val="150000"/>
              </a:lnSpc>
            </a:pPr>
            <a:r>
              <a:rPr sz="2200" b="1">
                <a:solidFill>
                  <a:srgbClr val="383838"/>
                </a:solidFill>
                <a:latin typeface="맑은 고딕"/>
                <a:ea typeface="맑은 고딕"/>
              </a:rPr>
              <a:t>민수개발팀   유경선, 이기성, 최중건</a:t>
            </a:r>
            <a:endParaRPr lang="en-US" altLang="ko-KR" sz="3200" b="1" dirty="0" smtClean="0">
              <a:solidFill>
                <a:srgbClr val="2C314F"/>
              </a:solidFill>
              <a:latin typeface="+mj-lt"/>
              <a:ea typeface="맑은 고딕" panose="020B0503020000020004" pitchFamily="50" charset="-127"/>
              <a:cs typeface="Aharoni" panose="02010803020104030203" pitchFamily="2" charset="-79"/>
            </a:endParaRPr>
          </a:p>
          <a:p>
            <a:pPr algn="ctr">
              <a:lnSpc>
                <a:spcPct val="150000"/>
              </a:lnSpc>
            </a:pPr>
            <a:r>
              <a:rPr lang="en-US" altLang="ko-KR" sz="3000" b="1" dirty="0" smtClean="0">
                <a:solidFill>
                  <a:srgbClr val="2C314F"/>
                </a:solidFill>
                <a:latin typeface="+mj-lt"/>
                <a:ea typeface="맑은 고딕" panose="020B0503020000020004" pitchFamily="50" charset="-127"/>
                <a:cs typeface="Aharoni" panose="02010803020104030203" pitchFamily="2" charset="-79"/>
              </a:rPr>
              <a:t>2026. 09. 01</a:t>
            </a:r>
            <a:endParaRPr lang="en-US" altLang="ko-KR" sz="2400" b="1" dirty="0">
              <a:solidFill>
                <a:srgbClr val="2C314F"/>
              </a:solidFill>
              <a:latin typeface="+mj-lt"/>
              <a:ea typeface="맑은 고딕" panose="020B0503020000020004" pitchFamily="50" charset="-127"/>
              <a:cs typeface="Aharoni" panose="02010803020104030203" pitchFamily="2" charset="-79"/>
            </a:endParaRPr>
          </a:p>
        </p:txBody>
      </p:sp>
      <p:sp>
        <p:nvSpPr>
          <p:cNvPr id="10" name="Text 1"/>
          <p:cNvSpPr/>
          <p:nvPr/>
        </p:nvSpPr>
        <p:spPr>
          <a:xfrm>
            <a:off x="1417320" y="5342930"/>
            <a:ext cx="941832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맑은 고딕" pitchFamily="34" charset="0"/>
                <a:ea typeface="맑은 고딕" pitchFamily="34" charset="-122"/>
                <a:cs typeface="DM Sans" pitchFamily="34" charset="-120"/>
              </a:rPr>
              <a:t>선행 Confocal 측정 기반 실시간 초점 제어 — 지연 상수 설계 검증 및 D.O.F. 오차 예산 분석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21126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6"/>
          <p:cNvSpPr txBox="1">
            <a:spLocks noChangeArrowheads="1"/>
          </p:cNvSpPr>
          <p:nvPr/>
        </p:nvSpPr>
        <p:spPr bwMode="auto">
          <a:xfrm>
            <a:off x="3048000" y="2938294"/>
            <a:ext cx="5526932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ko-KR" altLang="en-US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감사 합니다</a:t>
            </a:r>
          </a:p>
        </p:txBody>
      </p:sp>
    </p:spTree>
    <p:extLst>
      <p:ext uri="{BB962C8B-B14F-4D97-AF65-F5344CB8AC3E}">
        <p14:creationId xmlns:p14="http://schemas.microsoft.com/office/powerpoint/2010/main" val="2993025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39980</TotalTime>
  <Words>1289</Words>
  <Application>Microsoft Office PowerPoint</Application>
  <PresentationFormat>와이드스크린</PresentationFormat>
  <Paragraphs>214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21</vt:i4>
      </vt:variant>
    </vt:vector>
  </HeadingPairs>
  <TitlesOfParts>
    <vt:vector size="32" baseType="lpstr">
      <vt:lpstr>Aharoni</vt:lpstr>
      <vt:lpstr>DM Sans</vt:lpstr>
      <vt:lpstr>HY견고딕</vt:lpstr>
      <vt:lpstr>Microsoft JhengHei</vt:lpstr>
      <vt:lpstr>굴림</vt:lpstr>
      <vt:lpstr>맑은 고딕</vt:lpstr>
      <vt:lpstr>한컴 윤고딕 230</vt:lpstr>
      <vt:lpstr>Arial</vt:lpstr>
      <vt:lpstr>Calibri</vt:lpstr>
      <vt:lpstr>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User</dc:creator>
  <cp:lastModifiedBy>user</cp:lastModifiedBy>
  <cp:revision>1476</cp:revision>
  <cp:lastPrinted>2021-06-09T03:01:30Z</cp:lastPrinted>
  <dcterms:created xsi:type="dcterms:W3CDTF">2018-05-04T07:28:01Z</dcterms:created>
  <dcterms:modified xsi:type="dcterms:W3CDTF">2025-10-29T23:14:10Z</dcterms:modified>
</cp:coreProperties>
</file>