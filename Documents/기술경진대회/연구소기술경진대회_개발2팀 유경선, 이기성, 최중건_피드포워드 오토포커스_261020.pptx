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0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08" r:id="rId2"/>
  </p:sldMasterIdLst>
  <p:notesMasterIdLst>
    <p:notesMasterId r:id="rId24"/>
  </p:notesMasterIdLst>
  <p:handoutMasterIdLst>
    <p:handoutMasterId r:id="rId25"/>
  </p:handoutMasterIdLst>
  <p:sldIdLst>
    <p:sldId id="257" r:id="rId3"/>
    <p:sldId id="602" r:id="rId11"/>
    <p:sldId id="603" r:id="rId12"/>
    <p:sldId id="604" r:id="rId13"/>
    <p:sldId id="605" r:id="rId14"/>
    <p:sldId id="607" r:id="rId16"/>
    <p:sldId id="608" r:id="rId17"/>
    <p:sldId id="606" r:id="rId15"/>
    <p:sldId id="609" r:id="rId18"/>
    <p:sldId id="610" r:id="rId19"/>
    <p:sldId id="621" r:id="rId30"/>
    <p:sldId id="612" r:id="rId21"/>
    <p:sldId id="613" r:id="rId22"/>
    <p:sldId id="615" r:id="rId9"/>
    <p:sldId id="611" r:id="rId20"/>
    <p:sldId id="614" r:id="rId10"/>
    <p:sldId id="616" r:id="rId8"/>
    <p:sldId id="617" r:id="rId7"/>
    <p:sldId id="618" r:id="rId6"/>
    <p:sldId id="619" r:id="rId5"/>
    <p:sldId id="620" r:id="rId4"/>
    <p:sldId id="623" r:id="rId32"/>
    <p:sldId id="624" r:id="rId33"/>
    <p:sldId id="622" r:id="rId31"/>
    <p:sldId id="625" r:id="rId34"/>
    <p:sldId id="626" r:id="rId35"/>
    <p:sldId id="601" r:id="rId23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597D"/>
    <a:srgbClr val="7E0000"/>
    <a:srgbClr val="EAEFF7"/>
    <a:srgbClr val="F4F5F8"/>
    <a:srgbClr val="7F7F7F"/>
    <a:srgbClr val="FF9900"/>
    <a:srgbClr val="033AA9"/>
    <a:srgbClr val="000000"/>
    <a:srgbClr val="333857"/>
    <a:srgbClr val="3C43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98" autoAdjust="0"/>
    <p:restoredTop sz="96391" autoAdjust="0"/>
  </p:normalViewPr>
  <p:slideViewPr>
    <p:cSldViewPr snapToGrid="0">
      <p:cViewPr varScale="1">
        <p:scale>
          <a:sx n="109" d="100"/>
          <a:sy n="109" d="100"/>
        </p:scale>
        <p:origin x="106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7.xml"/><Relationship Id="rId9" Type="http://schemas.openxmlformats.org/officeDocument/2006/relationships/slide" Target="slides/slide16.xml"/><Relationship Id="rId10" Type="http://schemas.openxmlformats.org/officeDocument/2006/relationships/slide" Target="slides/slide15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900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ctr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주기당 AXL API 소요 시간 (µs) · 합계 39.7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평균 소요 시간 (µs)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Sheet1!$A$2:$A$5</c:f>
              <c:strCache>
                <c:ptCount val="4"/>
                <c:pt idx="0">
                  <c:v>AxmSignalReadInput</c:v>
                </c:pt>
                <c:pt idx="1">
                  <c:v>AxmStatusGetActPos</c:v>
                </c:pt>
                <c:pt idx="2">
                  <c:v>AxmStatusReadMotion</c:v>
                </c:pt>
                <c:pt idx="3">
                  <c:v>AxaiSwReadVoltage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17.2</c:v>
                </c:pt>
                <c:pt idx="1">
                  <c:v>9.4</c:v>
                </c:pt>
                <c:pt idx="2">
                  <c:v>9.3</c:v>
                </c:pt>
                <c:pt idx="3">
                  <c:v>3.8</c:v>
                </c:pt>
              </c:numCache>
            </c:numRef>
          </c:val>
        </c:ser>
        <c:dLbls>
          <c:txPr>
            <a:bodyPr/>
            <a:lstStyle/>
            <a:p>
              <a:pPr>
                <a:defRPr sz="1050" b="1">
                  <a:solidFill>
                    <a:srgbClr val="3838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050">
                <a:solidFill>
                  <a:srgbClr val="38383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CECE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ctr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초점 정확도 기준 · D.O.F. 예산 2.5 µm ÷ 잔존 시간 오차 (µm/ms)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추종 한계 (µm/ms)</c:v>
                </c:pt>
              </c:strCache>
            </c:strRef>
          </c:tx>
          <c:spPr>
            <a:solidFill>
              <a:srgbClr val="C5D6E8"/>
            </a:solidFill>
          </c:spPr>
          <c:dPt>
            <c:idx val="3"/>
            <c:spPr>
              <a:solidFill>
                <a:srgbClr val="4478A0"/>
              </a:solidFill>
            </c:spPr>
          </c:dPt>
          <c:dPt>
            <c:idx val="4"/>
            <c:spPr>
              <a:solidFill>
                <a:srgbClr val="A8C2DC"/>
              </a:solidFill>
            </c:spPr>
          </c:dPt>
          <c:cat>
            <c:strRef>
              <c:f>Sheet1!$A$2:$A$6</c:f>
              <c:strCache>
                <c:ptCount val="5"/>
                <c:pt idx="0">
                  <c:v>보상 전
Δt = 5.75 ms</c:v>
                </c:pt>
                <c:pt idx="1">
                  <c:v>필터만 보상
Δt = 1.25 ms</c:v>
                </c:pt>
                <c:pt idx="2">
                  <c:v>지연 보상 3종
Δt = 0.50 ms</c:v>
                </c:pt>
                <c:pt idx="3">
                  <c:v>현재 구현
Δt = ±0.25 ms</c:v>
                </c:pt>
                <c:pt idx="4">
                  <c:v>＋데드밴드 SKIP
예산 3.5 µm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0.43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  <c:pt idx="4">
                  <c:v>14.0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3838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050">
                <a:solidFill>
                  <a:srgbClr val="38383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CECE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ctr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추종 대상 — 단차를 걷어내면 남는 완만한 기울기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평탄부 중앙값 높이 (µm)</c:v>
                </c:pt>
              </c:strCache>
            </c:strRef>
          </c:tx>
          <c:spPr>
            <a:ln w="28575">
              <a:solidFill>
                <a:srgbClr val="4478A0"/>
              </a:solidFill>
            </a:ln>
          </c:spPr>
          <c:cat>
            <c:strRef>
              <c:f>Sheet1!$A$2:$A$6</c:f>
              <c:strCache>
                <c:ptCount val="5"/>
                <c:pt idx="0">
                  <c:v>평탄 1</c:v>
                </c:pt>
                <c:pt idx="1">
                  <c:v>평탄 2</c:v>
                </c:pt>
                <c:pt idx="2">
                  <c:v>평탄 3</c:v>
                </c:pt>
                <c:pt idx="3">
                  <c:v>평탄 4</c:v>
                </c:pt>
                <c:pt idx="4">
                  <c:v>평탄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847.1</c:v>
                </c:pt>
                <c:pt idx="1">
                  <c:v>840.3</c:v>
                </c:pt>
                <c:pt idx="2">
                  <c:v>846.2</c:v>
                </c:pt>
                <c:pt idx="3">
                  <c:v>851.9</c:v>
                </c:pt>
                <c:pt idx="4">
                  <c:v>858.2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050" b="1">
                  <a:solidFill>
                    <a:srgbClr val="383838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50">
                <a:solidFill>
                  <a:srgbClr val="38383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70.0"/>
          <c:min val="830.0"/>
        </c:scaling>
        <c:delete val="0"/>
        <c:axPos val="l"/>
        <c:majorGridlines>
          <c:spPr>
            <a:ln>
              <a:solidFill>
                <a:srgbClr val="ECECE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r">
              <a:defRPr sz="1200"/>
            </a:lvl1pPr>
          </a:lstStyle>
          <a:p>
            <a:fld id="{5BDFFC02-3EDF-4AB8-B6F8-B02BE7C4FEFB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5"/>
            <a:ext cx="2946400" cy="4968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9" y="9428165"/>
            <a:ext cx="2946400" cy="4968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r">
              <a:defRPr sz="1200"/>
            </a:lvl1pPr>
          </a:lstStyle>
          <a:p>
            <a:fld id="{C5EF9307-5DFF-42BB-B3E3-75600E2C8D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1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r">
              <a:defRPr sz="1200"/>
            </a:lvl1pPr>
          </a:lstStyle>
          <a:p>
            <a:fld id="{1146BF4A-134A-4EE8-B76C-B0221396856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6" tIns="45713" rIns="91426" bIns="4571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2" y="4714877"/>
            <a:ext cx="5438775" cy="4467225"/>
          </a:xfrm>
          <a:prstGeom prst="rect">
            <a:avLst/>
          </a:prstGeom>
        </p:spPr>
        <p:txBody>
          <a:bodyPr vert="horz" lIns="91426" tIns="45713" rIns="91426" bIns="4571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5"/>
            <a:ext cx="2946400" cy="4968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9" y="9428165"/>
            <a:ext cx="2946400" cy="4968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r">
              <a:defRPr sz="1200"/>
            </a:lvl1pPr>
          </a:lstStyle>
          <a:p>
            <a:fld id="{E741A83C-D21A-46A4-97DB-B6601E2E6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67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1A83C-D21A-46A4-97DB-B6601E2E6BA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8279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0B86-B9BA-44CD-9356-3825FC094550}" type="datetimeFigureOut">
              <a:rPr lang="ko-KR" altLang="en-US" smtClean="0"/>
              <a:t>2025-10-30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5318-9859-41FC-9CC6-E0A7669F85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3571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 userDrawn="1"/>
        </p:nvSpPr>
        <p:spPr>
          <a:xfrm rot="5400000">
            <a:off x="-3130550" y="3130550"/>
            <a:ext cx="6858000" cy="596900"/>
          </a:xfrm>
          <a:prstGeom prst="rect">
            <a:avLst/>
          </a:prstGeom>
          <a:gradFill>
            <a:gsLst>
              <a:gs pos="0">
                <a:srgbClr val="2C314F"/>
              </a:gs>
              <a:gs pos="100000">
                <a:srgbClr val="3D446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6000" rtlCol="0" anchor="ctr"/>
          <a:lstStyle/>
          <a:p>
            <a:r>
              <a:rPr lang="en-US" altLang="ko-KR" sz="1400" dirty="0">
                <a:solidFill>
                  <a:prstClr val="white"/>
                </a:solidFill>
              </a:rPr>
              <a:t>KOREA ELECTRO OPTICS CO., LTD.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568" y="565234"/>
            <a:ext cx="385763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86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한국전광_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 flipV="1">
            <a:off x="0" y="672862"/>
            <a:ext cx="12192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sz="1800"/>
          </a:p>
        </p:txBody>
      </p:sp>
      <p:sp>
        <p:nvSpPr>
          <p:cNvPr id="5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165600" y="6382237"/>
            <a:ext cx="3860800" cy="365125"/>
          </a:xfrm>
          <a:prstGeom prst="rect">
            <a:avLst/>
          </a:prstGeom>
        </p:spPr>
        <p:txBody>
          <a:bodyPr/>
          <a:lstStyle>
            <a:lvl1pPr eaLnBrk="1" latinLnBrk="1" hangingPunct="1">
              <a:defRPr/>
            </a:lvl1pPr>
          </a:lstStyle>
          <a:p>
            <a:endParaRPr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293913" y="7938"/>
            <a:ext cx="11197167" cy="707366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4170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6014" y="6434130"/>
            <a:ext cx="1705985" cy="41818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6434131"/>
            <a:ext cx="27334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smtClean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열린</a:t>
            </a:r>
            <a:r>
              <a:rPr lang="ko-KR" altLang="en-US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마음 </a:t>
            </a:r>
            <a:r>
              <a:rPr lang="en-US" altLang="ko-KR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/ </a:t>
            </a:r>
            <a:r>
              <a:rPr lang="ko-KR" altLang="en-US" sz="1000" b="1" dirty="0" smtClean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신뢰</a:t>
            </a:r>
            <a:r>
              <a:rPr lang="ko-KR" altLang="en-US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받는 행동 </a:t>
            </a:r>
            <a:r>
              <a:rPr lang="en-US" altLang="ko-KR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/ </a:t>
            </a:r>
            <a:r>
              <a:rPr lang="ko-KR" altLang="en-US" sz="1000" b="1" dirty="0" smtClean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투명</a:t>
            </a:r>
            <a:r>
              <a:rPr lang="ko-KR" altLang="en-US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한 </a:t>
            </a:r>
            <a:r>
              <a:rPr lang="en-US" altLang="ko-KR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Process</a:t>
            </a:r>
            <a:endParaRPr lang="ko-KR" altLang="en-US" sz="10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554232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61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769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015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02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20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65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577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829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718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0598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4768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3595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00B86-B9BA-44CD-9356-3825FC094550}" type="datetimeFigureOut">
              <a:rPr lang="ko-KR" altLang="en-US" smtClean="0"/>
              <a:t>2025-10-30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E5318-9859-41FC-9CC6-E0A7669F85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945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721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54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5845659" y="2192636"/>
            <a:ext cx="5679592" cy="123202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icrosoft JhengHei" panose="020B0604030504040204" pitchFamily="34" charset="-120"/>
            </a:endParaRPr>
          </a:p>
        </p:txBody>
      </p:sp>
      <p:sp>
        <p:nvSpPr>
          <p:cNvPr id="5" name="직사각형 4"/>
          <p:cNvSpPr/>
          <p:nvPr/>
        </p:nvSpPr>
        <p:spPr>
          <a:xfrm rot="5400000">
            <a:off x="-3130550" y="3130550"/>
            <a:ext cx="6858000" cy="596900"/>
          </a:xfrm>
          <a:prstGeom prst="rect">
            <a:avLst/>
          </a:prstGeom>
          <a:gradFill>
            <a:gsLst>
              <a:gs pos="0">
                <a:srgbClr val="2C314F"/>
              </a:gs>
              <a:gs pos="100000">
                <a:srgbClr val="3D446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6000" rtlCol="0" anchor="ctr"/>
          <a:lstStyle/>
          <a:p>
            <a:r>
              <a:rPr lang="en-US" altLang="ko-KR" sz="1400" dirty="0">
                <a:solidFill>
                  <a:prstClr val="white"/>
                </a:solidFill>
              </a:rPr>
              <a:t>KOREA ELECTRO OPTICS CO., LTD.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68" y="565234"/>
            <a:ext cx="385763" cy="381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9306" y="505153"/>
            <a:ext cx="1809751" cy="501161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686119" y="1642085"/>
            <a:ext cx="11595099" cy="33134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endParaRPr lang="en-US" altLang="ko-KR" sz="4800" b="1" dirty="0">
              <a:solidFill>
                <a:srgbClr val="2C314F"/>
              </a:solidFill>
              <a:latin typeface="+mj-lt"/>
              <a:ea typeface="맑은 고딕" panose="020B0503020000020004" pitchFamily="50" charset="-127"/>
              <a:cs typeface="Aharoni" panose="02010803020104030203" pitchFamily="2" charset="-79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89785" y="1780054"/>
            <a:ext cx="11595099" cy="33134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400" b="1" dirty="0" smtClean="0">
                <a:solidFill>
                  <a:srgbClr val="002060"/>
                </a:solidFill>
                <a:latin typeface="HY견고딕"/>
                <a:cs typeface="Aharoni" panose="02010803020104030203" pitchFamily="2" charset="-79"/>
                <a:ea typeface="HY견고딕"/>
              </a:rPr>
              <a:t>피드포워드 오토포커스</a:t>
            </a:r>
            <a:endParaRPr lang="en-US" altLang="ko-KR" sz="5400" b="1" dirty="0">
              <a:solidFill>
                <a:srgbClr val="2C314F"/>
              </a:solidFill>
              <a:cs typeface="Aharoni" panose="02010803020104030203" pitchFamily="2" charset="-79"/>
            </a:endParaRPr>
          </a:p>
          <a:p>
            <a:pPr algn="ctr">
              <a:lnSpc>
                <a:spcPct val="150000"/>
              </a:lnSpc>
            </a:pPr>
            <a:endParaRPr lang="en-US" altLang="ko-KR" b="1" dirty="0">
              <a:solidFill>
                <a:srgbClr val="2C314F"/>
              </a:solidFill>
              <a:latin typeface="+mj-lt"/>
              <a:ea typeface="맑은 고딕" panose="020B0503020000020004" pitchFamily="50" charset="-127"/>
              <a:cs typeface="Aharoni" panose="02010803020104030203" pitchFamily="2" charset="-79"/>
            </a:endParaRPr>
          </a:p>
          <a:p>
            <a:pPr algn="ctr">
              <a:lnSpc>
                <a:spcPct val="150000"/>
              </a:lnSpc>
            </a:pPr>
            <a:r>
              <a:rPr sz="2200" b="1">
                <a:solidFill>
                  <a:srgbClr val="383838"/>
                </a:solidFill>
                <a:latin typeface="맑은 고딕"/>
                <a:ea typeface="맑은 고딕"/>
              </a:rPr>
              <a:t>개발2팀   유경선, 이기성, 최중건</a:t>
            </a:r>
            <a:endParaRPr lang="en-US" altLang="ko-KR" sz="3200" b="1" dirty="0" smtClean="0">
              <a:solidFill>
                <a:srgbClr val="2C314F"/>
              </a:solidFill>
              <a:latin typeface="+mj-lt"/>
              <a:ea typeface="맑은 고딕" panose="020B0503020000020004" pitchFamily="50" charset="-127"/>
              <a:cs typeface="Aharoni" panose="02010803020104030203" pitchFamily="2" charset="-79"/>
            </a:endParaRPr>
          </a:p>
          <a:p>
            <a:pPr algn="ctr">
              <a:lnSpc>
                <a:spcPct val="150000"/>
              </a:lnSpc>
            </a:pPr>
            <a:r>
              <a:rPr lang="en-US" altLang="ko-KR" sz="3000" b="1" dirty="0" smtClean="0">
                <a:solidFill>
                  <a:srgbClr val="2C314F"/>
                </a:solidFill>
                <a:latin typeface="+mj-lt"/>
                <a:ea typeface="맑은 고딕" panose="020B0503020000020004" pitchFamily="50" charset="-127"/>
                <a:cs typeface="Aharoni" panose="02010803020104030203" pitchFamily="2" charset="-79"/>
              </a:rPr>
              <a:t>2026. 10. 20</a:t>
            </a:r>
            <a:endParaRPr lang="en-US" altLang="ko-KR" sz="2400" b="1" dirty="0">
              <a:solidFill>
                <a:srgbClr val="2C314F"/>
              </a:solidFill>
              <a:latin typeface="+mj-lt"/>
              <a:ea typeface="맑은 고딕" panose="020B0503020000020004" pitchFamily="50" charset="-127"/>
              <a:cs typeface="Aharoni" panose="02010803020104030203" pitchFamily="2" charset="-79"/>
            </a:endParaRPr>
          </a:p>
        </p:txBody>
      </p:sp>
      <p:sp>
        <p:nvSpPr>
          <p:cNvPr id="10" name="Text 1"/>
          <p:cNvSpPr/>
          <p:nvPr/>
        </p:nvSpPr>
        <p:spPr>
          <a:xfrm>
            <a:off x="1417320" y="5342930"/>
            <a:ext cx="941832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맑은 고딕" pitchFamily="34" charset="0"/>
                <a:ea typeface="맑은 고딕" pitchFamily="34" charset="-122"/>
                <a:cs typeface="DM Sans" pitchFamily="34" charset="-120"/>
              </a:rPr>
              <a:t>선행 Confocal 측정 기반 실시간 초점 제어 — 지연 상수 설계 검증 및 D.O.F. 오차 예산 분석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2112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2013712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117600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정의 → 배경 → 구성 → 설계 검증 → 실측 검증 → 판정 순으로 본다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0195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1" y="203911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5336" y="204825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피드포워드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5336" y="2359152"/>
            <a:ext cx="24780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이 장비가 하는 일 · 되먹임과 피드포워드의 차이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99923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3271" y="313639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5336" y="314553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개발 배경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3456432"/>
            <a:ext cx="24780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기존 동축 방식의 구조적 한계 · 핵심 개선 내용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9651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3271" y="423367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424281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핵심 성과 지표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19379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3271" y="533095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534009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광학 및 하드웨어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5650992"/>
            <a:ext cx="24780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촬상 광학 헤드와 조명 · 시스템 구성(회로도) · 모터 구동 능력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190195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82312" y="203911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204825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UI 구성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299923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82312" y="313639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4376" y="314553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제어 주기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56432"/>
            <a:ext cx="24780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제어 주기 실측 검증 · 반주기 선보정 · 지연 상수 906.25 ms 의 유도 · 지연 오차 예산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409651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82312" y="423367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4376" y="424281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추종 가능한 최대 높이 변화율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519379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82312" y="533095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94376" y="534009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오차 예산과 D.O.F. 판정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59" y="190195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31351" y="203911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3415" y="204825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실측 조건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5" y="2359152"/>
            <a:ext cx="24780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자재 단차 대응과 초기 위치 정렬 · 촬상 영역 상세 · 센서 실측 신호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59" y="299923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31351" y="313639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3415" y="314553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실측 검증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43415" y="3456432"/>
            <a:ext cx="24780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측정된 패턴 · 전압 · 지령 궤적 · 실측 로그 검증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66759" y="409651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531351" y="423367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43415" y="424281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종합 판정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66759" y="5193792"/>
            <a:ext cx="3337560" cy="1024128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31351" y="5330952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3415" y="534009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피드포워드 파급 효과 및 확장 가능성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9661143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8765031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이 장비가 하는 일 — 움직이면서 초점을 맞춰 찍는다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패널 위를 지나가며 한 줄씩 찍는다. 표면이 평평하지 않아, 찍는 동안 초점을 계속 따라가야 한다</a:t>
            </a:r>
          </a:p>
        </p:txBody>
      </p:sp>
      <p:sp>
        <p:nvSpPr>
          <p:cNvPr id="5" name="Chevron 4"/>
          <p:cNvSpPr/>
          <p:nvPr/>
        </p:nvSpPr>
        <p:spPr>
          <a:xfrm>
            <a:off x="868680" y="1956816"/>
            <a:ext cx="2836926" cy="868680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① 자재 고정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디스플레이 패널 · 약 200 mm</a:t>
            </a:r>
          </a:p>
        </p:txBody>
      </p:sp>
      <p:sp>
        <p:nvSpPr>
          <p:cNvPr id="6" name="Chevron 5"/>
          <p:cNvSpPr/>
          <p:nvPr/>
        </p:nvSpPr>
        <p:spPr>
          <a:xfrm>
            <a:off x="3559302" y="1956816"/>
            <a:ext cx="2836926" cy="868680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헤드 이동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X축 80 mm/s 등속</a:t>
            </a:r>
          </a:p>
        </p:txBody>
      </p:sp>
      <p:sp>
        <p:nvSpPr>
          <p:cNvPr id="7" name="Chevron 6"/>
          <p:cNvSpPr/>
          <p:nvPr/>
        </p:nvSpPr>
        <p:spPr>
          <a:xfrm>
            <a:off x="6249924" y="1956816"/>
            <a:ext cx="2836926" cy="868680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한 줄씩 촬상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Line-scan · 200 mm 를 2.5초에</a:t>
            </a:r>
          </a:p>
        </p:txBody>
      </p:sp>
      <p:sp>
        <p:nvSpPr>
          <p:cNvPr id="8" name="Chevron 7"/>
          <p:cNvSpPr/>
          <p:nvPr/>
        </p:nvSpPr>
        <p:spPr>
          <a:xfrm>
            <a:off x="8940546" y="1956816"/>
            <a:ext cx="2836926" cy="868680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④ 초점 유지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Z축이 표면 높이를 따라간다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035808"/>
            <a:ext cx="3337560" cy="1572768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200400"/>
            <a:ext cx="2862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</a:rPr>
              <a:t>무엇을 찍나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547872"/>
            <a:ext cx="2862072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디스플레이 패널에 TAB 이 붙은 가로 띠 하나다. 리드와 정렬 마크가 또렷하게 분해되어야 정상 이미지로 인정한다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3035808"/>
            <a:ext cx="3337560" cy="1572768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5464" y="3200400"/>
            <a:ext cx="2862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</a:rPr>
              <a:t>왜 초점이 문제인가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3547872"/>
            <a:ext cx="2862072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초점이 맞는 두께(D.O.F.)가 3.5 µm 뿐이다. 이 범위를 벗어나면 그 구간의 이미지는 흐려져 검사에 쓸 수 없다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59" y="3035808"/>
            <a:ext cx="3337560" cy="1572768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04503" y="3200400"/>
            <a:ext cx="2862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</a:rPr>
              <a:t>표면은 얼마나 움직이나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04503" y="3547872"/>
            <a:ext cx="2862072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패널 전체로 200 µm, TAB 과 TAB 사이 간극에서는 100–160 µm 단차가 발생한다. 초점 두께의 30–45배다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73168"/>
            <a:ext cx="10908792" cy="530352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초점이 맞는 두께 3.5 µm   ·   사람 머리카락 약 70 µm   ·   자재 단차 100–160 µm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486400"/>
            <a:ext cx="10908792" cy="731520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그래서 필요한 것 — 찍는 그 순간, 그 지점의 표면 높이에 Z축이 이미 가 있어야 한다.</a:t>
            </a:r>
          </a:p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이 발표는 그 「미리 가 있게 하는 방법」에 대한 것이다.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996935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7100823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피드포워드 정의 — 보기 전에 고치는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피드백은 결과를 보고 고치고, 피드포워드는 선행 측정 후 고친다.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65376"/>
            <a:ext cx="5285232" cy="1225296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993392"/>
            <a:ext cx="4773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3838"/>
                </a:solidFill>
                <a:latin typeface="맑은 고딕"/>
                <a:ea typeface="맑은 고딕"/>
              </a:rPr>
              <a:t>피드백 (Feedback)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2304288"/>
            <a:ext cx="477316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7957" indent="-167957">
              <a:lnSpc>
                <a:spcPct val="120000"/>
              </a:lnSpc>
              <a:spcAft>
                <a:spcPts val="500"/>
              </a:spcAft>
              <a:buSzPct val="90000"/>
              <a:buChar char="·"/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오차가 생긴 뒤에만 동작 — 루프 지연이 성능 상한을 정한다</a:t>
            </a:r>
          </a:p>
          <a:p>
            <a:pPr algn="l" marL="167957" indent="-167957">
              <a:lnSpc>
                <a:spcPct val="120000"/>
              </a:lnSpc>
              <a:spcAft>
                <a:spcPts val="500"/>
              </a:spcAft>
              <a:buSzPct val="90000"/>
              <a:buChar char="·"/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측정점과 보정점이 같아 게인을 올리면 헌팅한다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865376"/>
            <a:ext cx="5230368" cy="1225296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1993392"/>
            <a:ext cx="4718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478A0"/>
                </a:solidFill>
                <a:latin typeface="맑은 고딕"/>
                <a:ea typeface="맑은 고딕"/>
              </a:rPr>
              <a:t>피드포워드 (Feed-forward)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2304288"/>
            <a:ext cx="471830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7957" indent="-167957">
              <a:lnSpc>
                <a:spcPct val="120000"/>
              </a:lnSpc>
              <a:spcAft>
                <a:spcPts val="500"/>
              </a:spcAft>
              <a:buSzPct val="90000"/>
              <a:buChar char="·"/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오차가 생기기 전에 동작 — 타이밍 정확도가 성능을 정한다</a:t>
            </a:r>
          </a:p>
          <a:p>
            <a:pPr algn="l" marL="167957" indent="-167957">
              <a:lnSpc>
                <a:spcPct val="120000"/>
              </a:lnSpc>
              <a:spcAft>
                <a:spcPts val="500"/>
              </a:spcAft>
              <a:buSzPct val="90000"/>
              <a:buChar char="·"/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피드백이 없어 헌팅도 없다. 대신 상수가 틀리면 스스로 못 고친다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18688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66666"/>
                </a:solidFill>
                <a:latin typeface="맑은 고딕"/>
                <a:ea typeface="맑은 고딕"/>
              </a:rPr>
              <a:t>Feedback — 본 뒤에 고친다. 고쳤을 때 그 지점은 이미 지나간 뒤다</a:t>
            </a:r>
          </a:p>
        </p:txBody>
      </p:sp>
      <p:sp>
        <p:nvSpPr>
          <p:cNvPr id="12" name="Chevron 11"/>
          <p:cNvSpPr/>
          <p:nvPr/>
        </p:nvSpPr>
        <p:spPr>
          <a:xfrm>
            <a:off x="868680" y="3511296"/>
            <a:ext cx="2836926" cy="768096"/>
          </a:xfrm>
          <a:prstGeom prst="chevron">
            <a:avLst/>
          </a:prstGeom>
          <a:solidFill>
            <a:srgbClr val="8E9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① 촬상 시작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그 지점을 이미 찍는 중</a:t>
            </a:r>
          </a:p>
        </p:txBody>
      </p:sp>
      <p:sp>
        <p:nvSpPr>
          <p:cNvPr id="13" name="Chevron 12"/>
          <p:cNvSpPr/>
          <p:nvPr/>
        </p:nvSpPr>
        <p:spPr>
          <a:xfrm>
            <a:off x="3559302" y="3511296"/>
            <a:ext cx="2836926" cy="768096"/>
          </a:xfrm>
          <a:prstGeom prst="chevron">
            <a:avLst/>
          </a:prstGeom>
          <a:solidFill>
            <a:srgbClr val="8E9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초점 어긋남 감지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같은 지점에서 측정</a:t>
            </a:r>
          </a:p>
        </p:txBody>
      </p:sp>
      <p:sp>
        <p:nvSpPr>
          <p:cNvPr id="14" name="Chevron 13"/>
          <p:cNvSpPr/>
          <p:nvPr/>
        </p:nvSpPr>
        <p:spPr>
          <a:xfrm>
            <a:off x="6249924" y="3511296"/>
            <a:ext cx="2836926" cy="768096"/>
          </a:xfrm>
          <a:prstGeom prst="chevron">
            <a:avLst/>
          </a:prstGeom>
          <a:solidFill>
            <a:srgbClr val="8E9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Z축 보정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루프 지연 약 2 ms 뒤</a:t>
            </a:r>
          </a:p>
        </p:txBody>
      </p:sp>
      <p:sp>
        <p:nvSpPr>
          <p:cNvPr id="15" name="Chevron 14"/>
          <p:cNvSpPr/>
          <p:nvPr/>
        </p:nvSpPr>
        <p:spPr>
          <a:xfrm>
            <a:off x="8940546" y="3511296"/>
            <a:ext cx="2836926" cy="768096"/>
          </a:xfrm>
          <a:prstGeom prst="chevron">
            <a:avLst/>
          </a:prstGeom>
          <a:solidFill>
            <a:srgbClr val="8E9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④ 이미 지나감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80 mm/s × 2 ms = 160 µm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4"/>
            <a:ext cx="10908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478A0"/>
                </a:solidFill>
                <a:latin typeface="맑은 고딕"/>
                <a:ea typeface="맑은 고딕"/>
              </a:rPr>
              <a:t>피드포워드 — 보기 전에 고친다. 그 지점이 촬상점에 올 때 Z축은 이미 가 있다</a:t>
            </a:r>
          </a:p>
        </p:txBody>
      </p:sp>
      <p:sp>
        <p:nvSpPr>
          <p:cNvPr id="17" name="Chevron 16"/>
          <p:cNvSpPr/>
          <p:nvPr/>
        </p:nvSpPr>
        <p:spPr>
          <a:xfrm>
            <a:off x="868680" y="4736592"/>
            <a:ext cx="2836926" cy="768096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① 선행 측정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촬상점 72.5 mm 앞에서</a:t>
            </a:r>
          </a:p>
        </p:txBody>
      </p:sp>
      <p:sp>
        <p:nvSpPr>
          <p:cNvPr id="18" name="Chevron 17"/>
          <p:cNvSpPr/>
          <p:nvPr/>
        </p:nvSpPr>
        <p:spPr>
          <a:xfrm>
            <a:off x="3559302" y="4736592"/>
            <a:ext cx="2836926" cy="768096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시각과 함께 보관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지연 큐 906.25 ms</a:t>
            </a:r>
          </a:p>
        </p:txBody>
      </p:sp>
      <p:sp>
        <p:nvSpPr>
          <p:cNvPr id="19" name="Chevron 18"/>
          <p:cNvSpPr/>
          <p:nvPr/>
        </p:nvSpPr>
        <p:spPr>
          <a:xfrm>
            <a:off x="6249924" y="4736592"/>
            <a:ext cx="2836926" cy="768096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때맞춰 Z축 이동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촬상 도착 전에 완료</a:t>
            </a:r>
          </a:p>
        </p:txBody>
      </p:sp>
      <p:sp>
        <p:nvSpPr>
          <p:cNvPr id="20" name="Chevron 19"/>
          <p:cNvSpPr/>
          <p:nvPr/>
        </p:nvSpPr>
        <p:spPr>
          <a:xfrm>
            <a:off x="8940546" y="4736592"/>
            <a:ext cx="2836926" cy="768096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④ 촬상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초점이 맞은 상태로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650992"/>
            <a:ext cx="10908792" cy="402336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외란은 자재 표면 높이, 보정량은 Z축 목표 위치 — 성립 조건은 자재 고정 · X축 80 mm/s 등속 · 선행 거리 72.5 mm 일정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144768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피드포워드는 피드백의 반대가 아니라, 피드백이 손댈 수 없는 지연 구간을 덮는 방법이다 — 이 설계에서 피드백이 사라진 것은 Z축에 엔코더가 없어서가 아니라 측정점과 보정점을 떼어 놓았기 때문이다.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5011928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4115816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개발 배경 및 개발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동축(Co-axial) AFM 의 두 가지 구조적 한계를 선행 측정 피드포워드로 해소한다</a:t>
            </a:r>
          </a:p>
        </p:txBody>
      </p:sp>
      <p:sp>
        <p:nvSpPr>
          <p:cNvPr id="5" name="Alternate process 4"/>
          <p:cNvSpPr/>
          <p:nvPr/>
        </p:nvSpPr>
        <p:spPr>
          <a:xfrm>
            <a:off x="868680" y="1938528"/>
            <a:ext cx="2697480" cy="457200"/>
          </a:xfrm>
          <a:prstGeom prst="flowChartAlternateProcess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400" b="1" i="0">
                <a:solidFill>
                  <a:srgbClr val="000000"/>
                </a:solidFill>
                <a:latin typeface="맑은 고딕"/>
                <a:ea typeface="맑은 고딕"/>
              </a:rPr>
              <a:t>기술 개발 필요성</a:t>
            </a:r>
          </a:p>
        </p:txBody>
      </p:sp>
      <p:sp>
        <p:nvSpPr>
          <p:cNvPr id="6" name="Alternate process 5"/>
          <p:cNvSpPr/>
          <p:nvPr/>
        </p:nvSpPr>
        <p:spPr>
          <a:xfrm>
            <a:off x="6291072" y="1938528"/>
            <a:ext cx="2697480" cy="457200"/>
          </a:xfrm>
          <a:prstGeom prst="flowChartAlternateProcess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400" b="1" i="0">
                <a:solidFill>
                  <a:srgbClr val="000000"/>
                </a:solidFill>
                <a:latin typeface="맑은 고딕"/>
                <a:ea typeface="맑은 고딕"/>
              </a:rPr>
              <a:t>핵심 개선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33472"/>
            <a:ext cx="528523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AFM 이 촬상 광축과 동축 — 측정 지점과 촬상 지점이 같다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감지 시점에 그 지점은 이미 촬상 중 → 보정이 항상 사후(事後)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루프 지연 약 2 ms · 80 mm/s 에서 160 µm 를 지난 뒤 도달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추종 범위 20 µm · 기울기 20 µm/mm — 단차에서 Defocus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자기 참조 폐루프라 게인을 올리면 헌팅, 낮추면 추종 지연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2633472"/>
            <a:ext cx="5230368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Confocal 변위센서를 촬상점 72.5 mm 전방에 선행 배치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측정값에 적용 시각을 부여해 906.25 ms 지연 큐에 보관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저장된 단차 데이터로 Z축을 미리 이동 — 피드포워드 개루프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대역폭 문제를 타이밍 정확도 문제로 전환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측정·보정 지점 분리 → 헌팅이 구조적으로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413248"/>
            <a:ext cx="10908792" cy="420624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</a:rPr>
              <a:t>기존 구조는 오차를 「본 뒤에」 고쳤고, 신규 구조는 오차를 「보기 전에」 고친다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3677920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2781808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핵심 성과 지표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993392"/>
            <a:ext cx="3337560" cy="1847088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221284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83838"/>
                </a:solidFill>
                <a:latin typeface="맑은 고딕"/>
                <a:ea typeface="맑은 고딕"/>
              </a:rPr>
              <a:t>예비 시간 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269748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2060"/>
                </a:solidFill>
                <a:latin typeface="HY견고딕"/>
                <a:ea typeface="HY견고딕"/>
              </a:rPr>
              <a:t>906.25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27355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72.5 mm ÷ 80 mm/s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Z축 이동시간 0.84 ms 의 1,080배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993392"/>
            <a:ext cx="3337560" cy="1847088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3752" y="221284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83838"/>
                </a:solidFill>
                <a:latin typeface="맑은 고딕"/>
                <a:ea typeface="맑은 고딕"/>
              </a:rPr>
              <a:t>추종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3752" y="269748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2060"/>
                </a:solidFill>
                <a:latin typeface="HY견고딕"/>
                <a:ea typeface="HY견고딕"/>
              </a:rPr>
              <a:t>23배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327355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0.43 → 10.0 µm/ms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지연 보상 4종 + 반주기 선보정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59" y="1993392"/>
            <a:ext cx="3337560" cy="1847088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1" y="221284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83838"/>
                </a:solidFill>
                <a:latin typeface="맑은 고딕"/>
                <a:ea typeface="맑은 고딕"/>
              </a:rPr>
              <a:t>촬상 시점 초점 오차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1" y="269748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2060"/>
                </a:solidFill>
                <a:latin typeface="HY견고딕"/>
                <a:ea typeface="HY견고딕"/>
              </a:rPr>
              <a:t>D.O.F. 29 %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2791" y="327355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1.01 µm / D.O.F. 3.5 µm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오차의 98 %가 데드밴드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041648"/>
            <a:ext cx="3337560" cy="969264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4224528"/>
            <a:ext cx="2926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478A0"/>
                </a:solidFill>
                <a:latin typeface="맑은 고딕"/>
                <a:ea typeface="맑은 고딕"/>
              </a:rPr>
              <a:t>제어 주기 500 µs · 초과 0 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4562856"/>
            <a:ext cx="2926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38,007주기 연속 측정 · 1주기 작업시간은 예산의 42 %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4041648"/>
            <a:ext cx="3337560" cy="969264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7176" y="4224528"/>
            <a:ext cx="2926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478A0"/>
                </a:solidFill>
                <a:latin typeface="맑은 고딕"/>
                <a:ea typeface="맑은 고딕"/>
              </a:rPr>
              <a:t>실측 여유 912 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7176" y="4562856"/>
            <a:ext cx="2926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추종 대상 0.011 µm/ms vs 지배 상한 10 µm/ms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59" y="4041648"/>
            <a:ext cx="3337560" cy="969264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86215" y="4224528"/>
            <a:ext cx="2926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478A0"/>
                </a:solidFill>
                <a:latin typeface="맑은 고딕"/>
                <a:ea typeface="맑은 고딕"/>
              </a:rPr>
              <a:t>추종 범위 200 µm 목표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5" y="4562856"/>
            <a:ext cx="2926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기존 AFM 20 µm 의 10배 · 센서 범위 2 mm 로 여유 확보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321808"/>
            <a:ext cx="10908792" cy="201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04688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83838"/>
                </a:solidFill>
                <a:latin typeface="맑은 고딕"/>
                <a:ea typeface="맑은 고딕"/>
              </a:rPr>
              <a:t>동축 피드백의 사후 보정 한계를 선행 측정 피드포워드로 해소 — 지연 상수의 유도, 코드 반영, 실측 로그가 모두 일치하며 현 요구 조건을 여유 있게 충족한다.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6002527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106415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기존 동축 방식의 구조적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측정 지점과 촬상 지점이 같으면 미리 움직일 시간이 없다 — 세 한계는 모두 이 하나에서 나온다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93392"/>
            <a:ext cx="3337560" cy="2697480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" y="2212848"/>
            <a:ext cx="475488" cy="475488"/>
          </a:xfrm>
          <a:prstGeom prst="ellipse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231343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맑은 고딕"/>
                <a:ea typeface="맑은 고딕"/>
              </a:rPr>
              <a:t>지연 (Latency)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2852928"/>
            <a:ext cx="28620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t loop = 센서·연산 1 ms + Z축 이동 0.85 ms = 1.85 ms ≈ 2 ms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80 mm/s 에서 160 µm 를 지난 뒤 보정이 도달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D.O.F. 소진 지점 = 3.5 µm ÷ 2 ms = 1.75 µm/ms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993392"/>
            <a:ext cx="3337560" cy="2697480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55464" y="2212848"/>
            <a:ext cx="475488" cy="475488"/>
          </a:xfrm>
          <a:prstGeom prst="ellipse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8" y="231343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맑은 고딕"/>
                <a:ea typeface="맑은 고딕"/>
              </a:rPr>
              <a:t>좁은 추적 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5464" y="2852928"/>
            <a:ext cx="28620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Z축 추적 가능 높이 변화 20 µm — D.O.F. 의 5.7배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기울기 20 µm/mm → 스캔 80 mm/s 에서 Z축 1.6 mm/s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범위 이탈 시 추적 상실 → 재포착까지 검사 불능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59" y="1993392"/>
            <a:ext cx="3337560" cy="2697480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04503" y="2212848"/>
            <a:ext cx="475488" cy="475488"/>
          </a:xfrm>
          <a:prstGeom prst="ellipse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8007" y="231343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맑은 고딕"/>
                <a:ea typeface="맑은 고딕"/>
              </a:rPr>
              <a:t>급격한 단차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04503" y="2852928"/>
            <a:ext cx="28620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자재 딥 100–160 µm = D.O.F. 3.5 µm 의 30–45배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딥 추종에 주행 8 mm · 시간 100 ms 필요 (기존 AFM)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추종하지 못하고 Defocus 발생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864608"/>
            <a:ext cx="10908792" cy="786384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C0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C0302A"/>
                </a:solidFill>
                <a:latin typeface="맑은 고딕"/>
                <a:ea typeface="맑은 고딕"/>
              </a:rPr>
              <a:t>이 하한은 소프트웨어로 개선되지 않는다 — 줄이려면 더 빠른 센서와 Z축이 필요하다. 루프를 빠르게 하는 대신 구조를 바꾸는 것이 유일한 해법이다.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852160"/>
            <a:ext cx="10817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00" b="0" i="0">
                <a:solidFill>
                  <a:srgbClr val="666666"/>
                </a:solidFill>
                <a:latin typeface="맑은 고딕"/>
                <a:ea typeface="맑은 고딕"/>
              </a:rPr>
              <a:t>Z축 이동 0.85 ms = 35 pulse · 구 설정 Vel 70,000 · Accel 200 M 사다리꼴 (t = v/a + d/v = 0.35 + 0.50) · 1.85 ms 를 보수적으로 2 ms 로 올려 잡았다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  <a:ea typeface="맑은 고딕"/>
              </a:rPr>
              <a:t>완만한 휨(요구 1.0 µm/mm)은 기존 AFM 으로도 담기는 영역이었다 — 실제 문제는 딥·급단차의 국부 기울기와 사후 보정 지연이다.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6834631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938519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피드포워드 전환 — 선행 측정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1783080"/>
            <a:ext cx="9646920" cy="512064"/>
          </a:xfrm>
          <a:prstGeom prst="rect">
            <a:avLst/>
          </a:prstGeom>
          <a:solidFill>
            <a:srgbClr val="E9ECF1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0" i="0">
                <a:solidFill>
                  <a:srgbClr val="383838"/>
                </a:solidFill>
                <a:latin typeface="맑은 고딕"/>
                <a:ea typeface="맑은 고딕"/>
              </a:rPr>
              <a:t>자재 (패널 · 전체 길이 약 200 mm · 높이 편차 목표 200 µm) — 고정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3121761" y="2295144"/>
            <a:ext cx="20116" cy="192024"/>
          </a:xfrm>
          <a:prstGeom prst="rect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65361" y="2295144"/>
            <a:ext cx="20116" cy="192024"/>
          </a:xfrm>
          <a:prstGeom prst="rect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87168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Confocal 센서 FS2404-2</a:t>
            </a:r>
          </a:p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측정 범위 2 mm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487168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Line-scan 카메라</a:t>
            </a:r>
          </a:p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D.O.F. 3.5 µm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560320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HY견고딕"/>
                <a:ea typeface="HY견고딕"/>
              </a:rPr>
              <a:t>72.5 mm</a:t>
            </a:r>
          </a:p>
        </p:txBody>
      </p:sp>
      <p:sp>
        <p:nvSpPr>
          <p:cNvPr id="10" name="Left-Right Arrow 9"/>
          <p:cNvSpPr/>
          <p:nvPr/>
        </p:nvSpPr>
        <p:spPr>
          <a:xfrm>
            <a:off x="4526280" y="2944368"/>
            <a:ext cx="3154680" cy="274320"/>
          </a:xfrm>
          <a:prstGeom prst="leftRightArrow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21761" y="3355848"/>
            <a:ext cx="20116" cy="192024"/>
          </a:xfrm>
          <a:prstGeom prst="rect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5361" y="3355848"/>
            <a:ext cx="20116" cy="192024"/>
          </a:xfrm>
          <a:prstGeom prst="rect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74519" y="3547872"/>
            <a:ext cx="8458200" cy="237744"/>
          </a:xfrm>
          <a:prstGeom prst="rect">
            <a:avLst/>
          </a:prstGeom>
          <a:solidFill>
            <a:srgbClr val="DEEAF6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4478A0"/>
                </a:solidFill>
                <a:latin typeface="맑은 고딕"/>
                <a:ea typeface="맑은 고딕"/>
              </a:rPr>
              <a:t>X축 캐리지 — 센서 · 카메라 · Z축이 한 몸으로 이동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1234440" y="3913632"/>
            <a:ext cx="2788920" cy="292608"/>
          </a:xfrm>
          <a:prstGeom prst="leftArrow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X축 헤드 이동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941063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3838"/>
                </a:solidFill>
                <a:latin typeface="맑은 고딕"/>
                <a:ea typeface="맑은 고딕"/>
              </a:rPr>
              <a:t>80 mm/s 등속 이동 · 자재는 고정, 헤드가 센서 쪽으로 나아간다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370832"/>
            <a:ext cx="10908792" cy="786384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002060"/>
                </a:solidFill>
                <a:latin typeface="HY견고딕"/>
                <a:ea typeface="HY견고딕"/>
              </a:rPr>
              <a:t>906.25 ms  =  72.5 mm ÷ 80 mm/s     —     센서가 읽은 지점이 촬상점에 도착하기까지의 예비 시간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321808"/>
            <a:ext cx="5349240" cy="896112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458968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4478A0"/>
                </a:solidFill>
                <a:latin typeface="맑은 고딕"/>
                <a:ea typeface="맑은 고딕"/>
              </a:rPr>
              <a:t>Z축 이동시간의 1,080배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751576"/>
            <a:ext cx="4892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축이 목표에 도달하고도 한참을 기다린 뒤에 그 지점이 촬상된다. 대역폭이 아니라 타이밍 정확도가 성능을 정한다.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321808"/>
            <a:ext cx="5349240" cy="896112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5458968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4478A0"/>
                </a:solidFill>
                <a:latin typeface="맑은 고딕"/>
                <a:ea typeface="맑은 고딕"/>
              </a:rPr>
              <a:t>헌팅이 구조적으로 없다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751576"/>
            <a:ext cx="4892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측정과 보정이 다른 지점에서 일어나므로 Z를 움직여도 센서 값이 흔들리지 않는다 — 자기 참조 폐루프가 사라진다.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4840224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3944112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촬상 광학 헤드와 조명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카메라가 또렷하게 보는 면(초점면)과 선행 센서가 재는 면이 같은 높이다 — 다른 것은 재는 시각뿐이다</a:t>
            </a:r>
          </a:p>
        </p:txBody>
      </p:sp>
      <p:pic>
        <p:nvPicPr>
          <p:cNvPr id="5" name="Picture 4" descr="optical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1993392"/>
            <a:ext cx="1579988" cy="3703320"/>
          </a:xfrm>
          <a:prstGeom prst="rect">
            <a:avLst/>
          </a:prstGeom>
        </p:spPr>
      </p:pic>
      <p:pic>
        <p:nvPicPr>
          <p:cNvPr id="6" name="Picture 5" descr="confocal-pr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362983"/>
            <a:ext cx="498366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082055"/>
            <a:ext cx="1234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FS2404-2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Confocal 변위센서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측정 범위 2 mm</a:t>
            </a:r>
          </a:p>
        </p:txBody>
      </p:sp>
      <p:pic>
        <p:nvPicPr>
          <p:cNvPr id="8" name="Picture 7" descr="confocal-control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17720"/>
            <a:ext cx="1234440" cy="7540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422392"/>
            <a:ext cx="1234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IFC2421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센서 컨트롤러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" y="2471120"/>
            <a:ext cx="3264408" cy="0"/>
          </a:xfrm>
          <a:prstGeom prst="line">
            <a:avLst/>
          </a:prstGeom>
          <a:ln w="17780">
            <a:solidFill>
              <a:srgbClr val="C030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0120" y="219680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0302A"/>
                </a:solidFill>
                <a:latin typeface="맑은 고딕"/>
                <a:ea typeface="맑은 고딕"/>
              </a:rPr>
              <a:t>측정면 = 초점면 (같은 높이)</a:t>
            </a:r>
          </a:p>
        </p:txBody>
      </p:sp>
      <p:pic>
        <p:nvPicPr>
          <p:cNvPr id="12" name="Picture 11" descr="illum-sp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993392"/>
            <a:ext cx="3290608" cy="2926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26280" y="5010912"/>
            <a:ext cx="33467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조명부 — 사축 조명(SPOT) 과 COAXIAL 이 같은 지점을 비춘다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75104"/>
            <a:ext cx="3593592" cy="896112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084832"/>
            <a:ext cx="31912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478A0"/>
                </a:solidFill>
                <a:latin typeface="맑은 고딕"/>
                <a:ea typeface="맑은 고딕"/>
              </a:rPr>
              <a:t>선행 측정계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350008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Confocal 프로브 FS2404-2 와 컨트롤러 IFC2421 · 0–10 V = 0–2 mm · 2채널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916936"/>
            <a:ext cx="3593592" cy="896112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3026664"/>
            <a:ext cx="31912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478A0"/>
                </a:solidFill>
                <a:latin typeface="맑은 고딕"/>
                <a:ea typeface="맑은 고딕"/>
              </a:rPr>
              <a:t>초점면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291840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노란 조명 광선이 모이는 끝단. 자재 표면이 이 면에 놓여야 초점이 맞는다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858768"/>
            <a:ext cx="3593592" cy="896112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968496"/>
            <a:ext cx="31912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478A0"/>
                </a:solidFill>
                <a:latin typeface="맑은 고딕"/>
                <a:ea typeface="맑은 고딕"/>
              </a:rPr>
              <a:t>조명 경로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4233672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사축 조명이 한 점으로 모이는 SPOT, 광축을 따라 들어가는 COAXIAL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4800600"/>
            <a:ext cx="3593592" cy="896112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4910328"/>
            <a:ext cx="31912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478A0"/>
                </a:solidFill>
                <a:latin typeface="맑은 고딕"/>
                <a:ea typeface="맑은 고딕"/>
              </a:rPr>
              <a:t>Z축이 하는 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5175504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표면을 매 순간 이 면에 올려두는 것 · 1 pulse = 0.1 µm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779008"/>
            <a:ext cx="10908792" cy="420624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두 지점은 같은 Z 평면이고 스캔 방향으로만 72.5 mm 떨어져 있다 — 같은 높이를 다른 시각에 재는 것이 이 설계의 전부다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336535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440423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시스템 구성 — 측정 경로와 지령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위 줄은 표면 높이를 읽어 들이는 길, 아래 줄은 Z축을 움직이는 길이다 — 두 길은 가운데 제어 PC 에서만 만난다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4478A0"/>
                </a:solidFill>
                <a:latin typeface="맑은 고딕"/>
                <a:ea typeface="맑은 고딕"/>
              </a:rPr>
              <a:t>측정 경로 — 아날로그</a:t>
            </a:r>
          </a:p>
        </p:txBody>
      </p:sp>
      <p:sp>
        <p:nvSpPr>
          <p:cNvPr id="6" name="Chevron 5"/>
          <p:cNvSpPr/>
          <p:nvPr/>
        </p:nvSpPr>
        <p:spPr>
          <a:xfrm>
            <a:off x="868680" y="2139696"/>
            <a:ext cx="2298801" cy="841248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자재 표면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높이 편차 200 µm</a:t>
            </a:r>
          </a:p>
        </p:txBody>
      </p:sp>
      <p:sp>
        <p:nvSpPr>
          <p:cNvPr id="7" name="Chevron 6"/>
          <p:cNvSpPr/>
          <p:nvPr/>
        </p:nvSpPr>
        <p:spPr>
          <a:xfrm>
            <a:off x="3021177" y="2139696"/>
            <a:ext cx="2298801" cy="841248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FS2404-2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Confocal 프로브</a:t>
            </a:r>
          </a:p>
        </p:txBody>
      </p:sp>
      <p:sp>
        <p:nvSpPr>
          <p:cNvPr id="8" name="Chevron 7"/>
          <p:cNvSpPr/>
          <p:nvPr/>
        </p:nvSpPr>
        <p:spPr>
          <a:xfrm>
            <a:off x="5173675" y="2139696"/>
            <a:ext cx="2298801" cy="841248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IFC2421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0–10 V = 0–2 mm</a:t>
            </a:r>
          </a:p>
        </p:txBody>
      </p:sp>
      <p:sp>
        <p:nvSpPr>
          <p:cNvPr id="9" name="Chevron 8"/>
          <p:cNvSpPr/>
          <p:nvPr/>
        </p:nvSpPr>
        <p:spPr>
          <a:xfrm>
            <a:off x="7326172" y="2139696"/>
            <a:ext cx="2298801" cy="841248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SIO-AI8F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8채널 아날로그 입력</a:t>
            </a:r>
          </a:p>
        </p:txBody>
      </p:sp>
      <p:sp>
        <p:nvSpPr>
          <p:cNvPr id="10" name="Chevron 9"/>
          <p:cNvSpPr/>
          <p:nvPr/>
        </p:nvSpPr>
        <p:spPr>
          <a:xfrm>
            <a:off x="9478670" y="2139696"/>
            <a:ext cx="2298801" cy="841248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제어 PC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AxaiSwReadVoltage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163824"/>
            <a:ext cx="10908792" cy="932688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제어 PC — HiPrecisionLoop 500 µs (QPC 기준)</a:t>
            </a:r>
          </a:p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IIR 필터 α = 0.10  →  데드밴드 ±5 mV  →  목표 위치 환산 ×2,000 pulse/V     ·     지연 큐 906.25 ms · 대기 약 1,813개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42816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02060"/>
                </a:solidFill>
                <a:latin typeface="맑은 고딕"/>
                <a:ea typeface="맑은 고딕"/>
              </a:rPr>
              <a:t>지령 경로 — 펄스열</a:t>
            </a:r>
          </a:p>
        </p:txBody>
      </p:sp>
      <p:sp>
        <p:nvSpPr>
          <p:cNvPr id="13" name="Chevron 12"/>
          <p:cNvSpPr/>
          <p:nvPr/>
        </p:nvSpPr>
        <p:spPr>
          <a:xfrm>
            <a:off x="868680" y="4535424"/>
            <a:ext cx="2836926" cy="84124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AXT SMC-2V04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펄스 출력 최대 500 kpps</a:t>
            </a:r>
          </a:p>
        </p:txBody>
      </p:sp>
      <p:sp>
        <p:nvSpPr>
          <p:cNvPr id="14" name="Chevron 13"/>
          <p:cNvSpPr/>
          <p:nvPr/>
        </p:nvSpPr>
        <p:spPr>
          <a:xfrm>
            <a:off x="3559302" y="4535424"/>
            <a:ext cx="2836926" cy="84124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Ezi-STEP MI 28L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FASTECH 스테퍼 드라이브</a:t>
            </a:r>
          </a:p>
        </p:txBody>
      </p:sp>
      <p:sp>
        <p:nvSpPr>
          <p:cNvPr id="15" name="Chevron 14"/>
          <p:cNvSpPr/>
          <p:nvPr/>
        </p:nvSpPr>
        <p:spPr>
          <a:xfrm>
            <a:off x="6249924" y="4535424"/>
            <a:ext cx="2836926" cy="84124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BM 28L · Z축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1 pulse = 0.1 µm</a:t>
            </a:r>
          </a:p>
        </p:txBody>
      </p:sp>
      <p:sp>
        <p:nvSpPr>
          <p:cNvPr id="16" name="Chevron 15"/>
          <p:cNvSpPr/>
          <p:nvPr/>
        </p:nvSpPr>
        <p:spPr>
          <a:xfrm>
            <a:off x="8940546" y="4535424"/>
            <a:ext cx="2836926" cy="84124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카메라 초점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D.O.F. 예산 2.5 µm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14416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회로도(KEOC2604) ↔ 실행 시 소프트웨어 열거 대조 — 축 2 / AI 8채널 / AXT_PCIeB_LBExR : 전 항목 일치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엔코더 되먹임 배선 없음 — AxmStatusGetActPos 는 보드가 내보낸 펄스 누적값이다. 개루프라 헌팅은 없지만 Z축 실위치는 컨트롤러에서 검증할 수 없다.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5896864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000752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지연 상수 906.25 ms 의 유도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956816"/>
            <a:ext cx="5074920" cy="1207008"/>
          </a:xfrm>
          <a:prstGeom prst="roundRect">
            <a:avLst>
              <a:gd name="adj" fmla="val 4000"/>
            </a:avLst>
          </a:prstGeom>
          <a:solidFill>
            <a:srgbClr val="F2EEEE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32000"/>
              </a:lnSpc>
            </a:pPr>
            <a:r>
              <a:rPr sz="1500" b="1" i="0">
                <a:solidFill>
                  <a:srgbClr val="002060"/>
                </a:solidFill>
                <a:latin typeface="HY견고딕"/>
                <a:ea typeface="HY견고딕"/>
              </a:rPr>
              <a:t>t delay  =  센서–카메라 거리 ÷ X축 속도</a:t>
            </a:r>
          </a:p>
          <a:p>
            <a:pPr algn="ctr">
              <a:lnSpc>
                <a:spcPct val="132000"/>
              </a:lnSpc>
            </a:pPr>
            <a:r>
              <a:rPr sz="1500" b="1" i="0">
                <a:solidFill>
                  <a:srgbClr val="002060"/>
                </a:solidFill>
                <a:latin typeface="HY견고딕"/>
                <a:ea typeface="HY견고딕"/>
              </a:rPr>
              <a:t>= 72.5 mm ÷ 80 mm/s  =  906.25 ms</a:t>
            </a:r>
          </a:p>
          <a:p>
            <a:pPr algn="ctr">
              <a:lnSpc>
                <a:spcPct val="132000"/>
              </a:lnSpc>
            </a:pPr>
            <a:r>
              <a:rPr sz="1150" b="1" i="0">
                <a:solidFill>
                  <a:srgbClr val="4478A0"/>
                </a:solidFill>
                <a:latin typeface="HY견고딕"/>
                <a:ea typeface="HY견고딕"/>
              </a:rPr>
              <a:t>906.25 ms ÷ Z축 이동 0.84 ms = 1,080배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73552"/>
            <a:ext cx="50749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562" indent="-182562">
              <a:lnSpc>
                <a:spcPct val="125000"/>
              </a:lnSpc>
              <a:spcAft>
                <a:spcPts val="800"/>
              </a:spcAft>
              <a:buSzPct val="90000"/>
              <a:buChar char="•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applyTime = sampleTime + 906.25 ms — 절대 시각 기준</a:t>
            </a:r>
          </a:p>
          <a:p>
            <a:pPr algn="l" marL="182562" indent="-182562">
              <a:lnSpc>
                <a:spcPct val="125000"/>
              </a:lnSpc>
              <a:spcAft>
                <a:spcPts val="800"/>
              </a:spcAft>
              <a:buSzPct val="90000"/>
              <a:buChar char="•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주기를 1 ms → 500 µs 로 바꿔도 지연은 그대로 유지</a:t>
            </a:r>
          </a:p>
          <a:p>
            <a:pPr algn="l" marL="182562" indent="-182562">
              <a:lnSpc>
                <a:spcPct val="125000"/>
              </a:lnSpc>
              <a:spcAft>
                <a:spcPts val="800"/>
              </a:spcAft>
              <a:buSzPct val="90000"/>
              <a:buChar char="•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「906 샘플」은 1 ms 주기 표현 · 500 µs 에서는 1,812 샘플</a:t>
            </a:r>
          </a:p>
          <a:p>
            <a:pPr algn="l" marL="182562" indent="-182562">
              <a:lnSpc>
                <a:spcPct val="125000"/>
              </a:lnSpc>
              <a:spcAft>
                <a:spcPts val="800"/>
              </a:spcAft>
              <a:buSzPct val="90000"/>
              <a:buChar char="•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Setting.ini FocusDelayMs = 906.250 (double)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956816"/>
            <a:ext cx="5330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4478A0"/>
                </a:solidFill>
                <a:latin typeface="맑은 고딕"/>
                <a:ea typeface="맑은 고딕"/>
              </a:rPr>
              <a:t>지연 큐 — 시간 기준 선형 버퍼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2304288"/>
            <a:ext cx="1417320" cy="658368"/>
          </a:xfrm>
          <a:prstGeom prst="rect">
            <a:avLst/>
          </a:prstGeom>
          <a:solidFill>
            <a:srgbClr val="DDDDDD"/>
          </a:solidFill>
          <a:ln w="635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2304288"/>
            <a:ext cx="2514600" cy="658368"/>
          </a:xfrm>
          <a:prstGeom prst="rect">
            <a:avLst/>
          </a:prstGeom>
          <a:solidFill>
            <a:srgbClr val="5B9BD5"/>
          </a:solidFill>
          <a:ln w="635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87000" y="2304288"/>
            <a:ext cx="13990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48716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소비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48716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대기 중 · 약 1,813개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2487168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빈 공간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01752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478A0"/>
                </a:solidFill>
                <a:latin typeface="맑은 고딕"/>
                <a:ea typeface="맑은 고딕"/>
              </a:rPr>
              <a:t>readIndex
906 ms 전 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30175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478A0"/>
                </a:solidFill>
                <a:latin typeface="맑은 고딕"/>
                <a:ea typeface="맑은 고딕"/>
              </a:rPr>
              <a:t>writeIndex
지금 측정한 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611880"/>
            <a:ext cx="5330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두 인덱스의 간격이 곧 지연 상수다. 링버퍼가 아니라 한 방향으로 전진하는 선형 버퍼(100,000 슬롯 = 50초분)이며, 끝에 닿으면 미소비 구간을 앞으로 압축한다.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09744"/>
            <a:ext cx="10908792" cy="676656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50" b="1" i="0">
                <a:solidFill>
                  <a:srgbClr val="002060"/>
                </a:solidFill>
                <a:latin typeface="맑은 고딕"/>
                <a:ea typeface="맑은 고딕"/>
              </a:rPr>
              <a:t>부수 효과 — 주기를 1 ms → 500 µs 로 줄이면서 X 방향 높이 샘플 간격이 80 µm → 40 µm 로 조밀해졌다 (짧은 주기의 요철 포착)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96128"/>
            <a:ext cx="1090879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촬상 조건 (라인 피치 0.35 µm 확정 · 정상 획득 이미지 3,200 × 600,000 px · 8-bit · 1.8 GB)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스캔 라인 피치 0.35 µm/라인  ·  라인 레이트 228.6 kHz  ·  1회 스캔 2.5 s  ·  초점 갱신 간격 114 라인(X축 40 µm)  ·  선행 구간 207,100 라인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996935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7100823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운용 화면 — 설정값과 리포트 상수의 대조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AutoFocusProject 실행 화면 · Position 0.1 µm = 1 pulse · Velocity 0.1 µm/s · Acc/Dec 0.1 µm/s² — 화면의 모든 수치가 이 단위계다</a:t>
            </a:r>
          </a:p>
        </p:txBody>
      </p:sp>
      <p:pic>
        <p:nvPicPr>
          <p:cNvPr id="5" name="Picture 4" descr="af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3441098" cy="42976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1920240"/>
          <a:ext cx="7114032" cy="422452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103120"/>
                <a:gridCol w="1737360"/>
                <a:gridCol w="3273552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 항목 (Item#1)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화면값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의미 · 근거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Delay Time (ms)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906.250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72.5 mm ÷ 80 mm/s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Lead Control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사용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Z축 이동시간만큼 선행 지령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Deadband / Filter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사용 / 사용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±5 mV(±1 µm) · IIR α 0.10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Reference Voltage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4.391787 V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초점 기준 전압 refV 4.3918 V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Valid Min / Max V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4.000 / 4.550 V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유효 대역 — 밖은 기각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Accel / Decel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200,000,000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 m/s² = 200 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Vel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150,000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15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Home Offset #1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66,992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홈 복귀 오프셋 6.6992 mm · 리포트 미기재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6213856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317744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제어 주기 실측 검증 — 500 </a:t>
            </a:r>
            <a:r>
              <a:rPr sz="2600" b="0" i="0">
                <a:solidFill>
                  <a:srgbClr val="002060"/>
                </a:solidFill>
                <a:latin typeface="맑은 고딕"/>
                <a:ea typeface="맑은 고딕"/>
              </a:rPr>
              <a:t>µ</a:t>
            </a:r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실장비 측정값 · 실앱 20초 · 카메라 2채널 동시 구동 · 매 주기 로깅 OFF 조건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2103120"/>
          <a:ext cx="5806440" cy="2414016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612900"/>
                <a:gridCol w="1612900"/>
                <a:gridCol w="2580640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결과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조건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평균 주기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500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40개 구간 전부 정확히 500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주기 초과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0 회 / 38,007주기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오차가 누적되지 않는 절대 시각 만기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주기 지터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대부분 ±15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최악 구간 340–660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1주기 작업시간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평균 39.8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p99 45.2 µs / 최대 211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예산 사용률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42 %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최대치 211 µs ÷ 500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967728" y="2011680"/>
          <a:ext cx="4718304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901184"/>
            <a:ext cx="109087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개별 주기가 튀어도 평균이 밀리지 않는 것은 만기를 절대 시각으로 잡기 때문이다 — 한 주기가 늦으면 다음 주기가 그만큼 짧아져 오차가 누적되지 않는다.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미검증 — 모션 명령(AxmOverridePosAbs / AxmMoveStartPos)의 소요 시간은 축이 실제로 움직여야 측정 가능해 아직 재지 않았다. 수락·거부율은 실측 로그로 정량화했다.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006335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110223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지연 오차 예산 — 성분과 보상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e focus = Δt(지연 오차) × dz/dt(표면 높이 변화율) — 예측되고 보상되는 시간은 오차가 아니다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2084831"/>
          <a:ext cx="10908790" cy="3008376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958057"/>
                <a:gridCol w="1448069"/>
                <a:gridCol w="4440747"/>
                <a:gridCol w="1061917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지연 성분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크기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처리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IIR 필터 군지연  (1−α)/α = 9샘플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4.50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적용 시각에서 filterDelayUs 만큼 차감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보상됨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틱 양자화  GetTickCount64 1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±1.00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큐 시각을 QPC 기준 applyTimeUs 로 전환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제거됨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지연 상수 절삭  906.25 → 906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0.25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delayTimeMs 를 double 로, 기본값 906.25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제거됨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Lead 올림 절삭  기존 ceil() 정수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최대 1.00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µs 단위 연산으로 전환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제거됨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Z축 이동 시간  35 pulse · a = 200 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0.84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Lead Control 로 이동시간만큼 선행 지령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보상됨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만기 판정 편향  항상 늦는 쪽으로만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+0.25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적용 시각에서 반주기를 미리 차감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제거됨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제어 주기 양자화  만기 판정 500 µs 격자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D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±0.25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D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주기를 줄이는 것 외에 방법 없음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D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E04F00"/>
                          </a:solidFill>
                          <a:latin typeface="맑은 고딕"/>
                          <a:ea typeface="맑은 고딕"/>
                        </a:rPr>
                        <a:t>잔존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DF3E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5230368"/>
            <a:ext cx="5806440" cy="96012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30000"/>
              </a:lnSpc>
            </a:pPr>
            <a:r>
              <a:rPr sz="1150" b="1" i="0">
                <a:solidFill>
                  <a:srgbClr val="4478A0"/>
                </a:solidFill>
                <a:latin typeface="맑은 고딕"/>
                <a:ea typeface="맑은 고딕"/>
              </a:rPr>
              <a:t>적용 시각 계산</a:t>
            </a:r>
          </a:p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906,250 − 4,500(군지연) − 840(Z축 이동) − 250(반주기)  =  900,660 µs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67728" y="5230368"/>
            <a:ext cx="4718304" cy="96012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C0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C0302A"/>
                </a:solidFill>
                <a:latin typeface="맑은 고딕"/>
                <a:ea typeface="맑은 고딕"/>
              </a:rPr>
              <a:t>주의 — 상수를 손으로 빼지 말 것</a:t>
            </a:r>
          </a:p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383838"/>
                </a:solidFill>
                <a:latin typeface="맑은 고딕"/>
                <a:ea typeface="맑은 고딕"/>
              </a:rPr>
              <a:t>FocusDelayMs 에는 물리값 906.250 을 그대로 넣는다. 보상은 코드가 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521447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625335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반주기 선보정 — 코드 한 줄로 Δt 절반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956816"/>
            <a:ext cx="10908792" cy="548640"/>
          </a:xfrm>
          <a:prstGeom prst="roundRect">
            <a:avLst>
              <a:gd name="adj" fmla="val 5000"/>
            </a:avLst>
          </a:prstGeom>
          <a:solidFill>
            <a:srgbClr val="2C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</a:rPr>
              <a:t>offsetUs  -=  FOCUS_LOOP_PERIOD_US / 2.0;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706624"/>
            <a:ext cx="4617720" cy="1481328"/>
          </a:xfrm>
          <a:prstGeom prst="roundRect">
            <a:avLst>
              <a:gd name="adj" fmla="val 4000"/>
            </a:avLst>
          </a:prstGeom>
          <a:solidFill>
            <a:srgbClr val="F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2889504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3838"/>
                </a:solidFill>
                <a:latin typeface="맑은 고딕"/>
                <a:ea typeface="맑은 고딕"/>
              </a:rPr>
              <a:t>보정 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310128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적용 오차 ∈ [ 0, +500 ) µs</a:t>
            </a:r>
          </a:p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평균 +250 µs · 최대 500 µs</a:t>
            </a:r>
          </a:p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늦는 쪽으로만 쌓이는 계통 편향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706624"/>
            <a:ext cx="5239512" cy="1481328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2552" y="2889504"/>
            <a:ext cx="4736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보정 후 — 현재 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2" y="3310128"/>
            <a:ext cx="47365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적용 오차 ∈ ( −250, +250 ] µs</a:t>
            </a:r>
          </a:p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평균 0 µs · 최대 250 µs · RMS 144 µs</a:t>
            </a:r>
          </a:p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부호가 아니라 크기로 소모되므로 유리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14416" y="3246120"/>
            <a:ext cx="658368" cy="402336"/>
          </a:xfrm>
          <a:prstGeom prst="rightArrow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37083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만기 판정 nowUs &gt;= applyTimeUs 는 500 µs 격자에서만 일어나 항상 다음 주기에 걸린다 — 반주기를 미리 빼두면 평균이 0 이 되고 최대 절대오차가 절반이 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5230368"/>
            <a:ext cx="9509760" cy="146304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12680" y="5230368"/>
            <a:ext cx="731520" cy="14630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20724" y="5120640"/>
            <a:ext cx="27432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53244" y="5120640"/>
            <a:ext cx="27432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03052" y="5120640"/>
            <a:ext cx="27432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82803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측정 시각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828032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지령 시각  측정 + 900,660 µs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5541264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촬상 시각  + 906,250 µs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541264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906.25 ms 예비 시간 — 이 구간 동안 값을 보관한다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61888"/>
            <a:ext cx="109087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보상 합계 5,590 µs = 필터 군지연 4,500 + Z축 이동 840 + 루프 반주기 250 — 전체 906 ms 의 0.62 % 구간이다.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6002527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106415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추종 가능한 최대 높이 변화율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938528"/>
          <a:ext cx="67208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45552" y="193852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478A0"/>
                </a:solidFill>
                <a:latin typeface="맑은 고딕"/>
                <a:ea typeface="맑은 고딕"/>
              </a:rPr>
              <a:t>네 가지 상한 — 가장 작은 값이 실제 한계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45552" y="2249424"/>
            <a:ext cx="3840480" cy="74980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36829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3838"/>
                </a:solidFill>
                <a:latin typeface="맑은 고딕"/>
                <a:ea typeface="맑은 고딕"/>
              </a:rPr>
              <a:t>① Z축 명령 상한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36829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50 µm/ms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70048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FASTECH 500,000 pulse/s · 하드웨어 절대 한계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5552" y="3072384"/>
            <a:ext cx="3840480" cy="74980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19125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3838"/>
                </a:solidFill>
                <a:latin typeface="맑은 고딕"/>
                <a:ea typeface="맑은 고딕"/>
              </a:rPr>
              <a:t>② Z축 속도 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19125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15 µm/ms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493008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Vel 150,000 pulse/s · 설정으로 조정 가능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5552" y="3895344"/>
            <a:ext cx="3840480" cy="749808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014215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3838"/>
                </a:solidFill>
                <a:latin typeface="맑은 고딕"/>
                <a:ea typeface="맑은 고딕"/>
              </a:rPr>
              <a:t>②′ Z축 가속도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014215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10 µm/ms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315968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Accel 200 M · 과도 응답 상한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5552" y="4718304"/>
            <a:ext cx="3840480" cy="749808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483717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3838"/>
                </a:solidFill>
                <a:latin typeface="맑은 고딕"/>
                <a:ea typeface="맑은 고딕"/>
              </a:rPr>
              <a:t>③ 초점 정확도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3717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10.0 µm/ms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138928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D.O.F. 예산 2.5 µm ÷ 0.25 ms · 정상상태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5552" y="5650992"/>
            <a:ext cx="3840480" cy="475488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지배 상한  10 µm/ms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687568"/>
            <a:ext cx="67208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보상 전 Δt 5.75 ms = 필터 군지연 4.50 + 틱 양자화 1.00 + 지연 상수 절삭 0.25 ms (표 7-1)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예산 2.5 µm = D.O.F. 3.5 − 데드밴드 1.0 µm · 데드밴드 SKIP 시 분자가 3.5 로 바뀐다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향상 배수 10.00 ÷ 0.43 = 23배 — 축을 바꾼 것이 아니라 타이밍 오차를 줄여 얻은 값이다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지배 상한에서 ②′와 ③이 만난다 — 어느 한쪽만 올려서는 전체가 오르지 않는다.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5210048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4313936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오차 예산과 D.O.F. 판정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993392"/>
          <a:ext cx="6903719" cy="275234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815991"/>
                <a:gridCol w="1362576"/>
                <a:gridCol w="1362576"/>
                <a:gridCol w="1362576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성분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실측 조건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0.04 µm/ms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개발 목표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0.08 µm/ms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가정 조건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1.0 µm/ms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데드밴드 (USE 시 고정)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제어 주기 양자화 ±0.25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0.01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0.02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0.25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필터 · 절삭 · 틱 · 편향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1.01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1.02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1.25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데드밴드 SKIP 시 합계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0.01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0.02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0.25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D.O.F. 3.5 µm 대비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29 % 통과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29 % 통과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36 % 통과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993392"/>
            <a:ext cx="3593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D.O.F. 예산 사용률 · 개발 목표 조건</a:t>
            </a:r>
          </a:p>
        </p:txBody>
      </p:sp>
      <p:sp>
        <p:nvSpPr>
          <p:cNvPr id="6" name="Rectangle 5"/>
          <p:cNvSpPr/>
          <p:nvPr/>
        </p:nvSpPr>
        <p:spPr>
          <a:xfrm>
            <a:off x="8092440" y="2359152"/>
            <a:ext cx="3593592" cy="566928"/>
          </a:xfrm>
          <a:prstGeom prst="rect">
            <a:avLst/>
          </a:prstGeom>
          <a:solidFill>
            <a:srgbClr val="EE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2440" y="2359152"/>
            <a:ext cx="1047275" cy="566928"/>
          </a:xfrm>
          <a:prstGeom prst="rect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2999232"/>
            <a:ext cx="35935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1.02 µm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999232"/>
            <a:ext cx="35935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D.O.F. 3.5 µm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429000"/>
            <a:ext cx="3593592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3400" b="1" i="0">
                <a:solidFill>
                  <a:srgbClr val="002060"/>
                </a:solidFill>
                <a:latin typeface="HY견고딕"/>
                <a:ea typeface="HY견고딕"/>
              </a:rPr>
              <a:t>29 %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535424"/>
            <a:ext cx="3593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오차의 98 %가 데드밴드다. SKIP 하면 합계 0.02 µm — 예산의 1 % 미만이 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047488"/>
            <a:ext cx="10908792" cy="658368"/>
          </a:xfrm>
          <a:prstGeom prst="roundRect">
            <a:avLst>
              <a:gd name="adj" fmla="val 5000"/>
            </a:avLst>
          </a:prstGeom>
          <a:solidFill>
            <a:srgbClr val="FDF3E8"/>
          </a:solidFill>
          <a:ln w="9525">
            <a:solidFill>
              <a:srgbClr val="E04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 i="0">
                <a:solidFill>
                  <a:srgbClr val="E04F00"/>
                </a:solidFill>
                <a:latin typeface="맑은 고딕"/>
                <a:ea typeface="맑은 고딕"/>
              </a:rPr>
              <a:t>단, 계단 응답은 별개다 — 1차 IIR 의 95 % 정착은 3τ = 14.2 ms 이고 그동안 X축은 1.14 mm(약 3,400 라인)를 지나간다. 큰 단차는 유효 대역에서 기각되므로 문제 구간은 대역 안에서 빠르게 변하는 곳뿐이다.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87568"/>
            <a:ext cx="1081735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실측 조건 0.04 µm/ms = 자재 편차 100 µm / 200 mm (= 0.5 µm/mm) × 스캔 80 mm/s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제어 주기 양자화 0.01 µm = ±0.25 ms × 0.04 µm/ms  ·  합계 1.01 µm ÷ D.O.F. 3.5 µm = 29 %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정착 시간 3τ = 14.2 ms · τ = −T ÷ ln(1−α) = −0.5 ms ÷ ln 0.9 = 4.746 ms (α = 0.10, T = 0.5 ms)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지연 보상 전 예측 1.24 µm 에서 현재 1.01 µm 로 내려갔고, 가정 조건 1 µm/ms 도 초과(200 %)에서 통과(36 %)로 바뀌었다.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6504431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608319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자재 단차 대응과 초기 위치 정렬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앞 절이 「정상 신호일 때 얼마나 정확한가」라면, 여기는 신호가 깨질 때와 스캔이 시작될 때다</a:t>
            </a:r>
          </a:p>
        </p:txBody>
      </p:sp>
      <p:pic>
        <p:nvPicPr>
          <p:cNvPr id="5" name="Picture 4" descr="panel-scan-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01952"/>
            <a:ext cx="3986784" cy="3017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11293" y="2827782"/>
            <a:ext cx="2844439" cy="97154"/>
          </a:xfrm>
          <a:prstGeom prst="rect">
            <a:avLst/>
          </a:prstGeom>
          <a:noFill/>
          <a:ln w="15875">
            <a:solidFill>
              <a:srgbClr val="C0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92624"/>
            <a:ext cx="4663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맑은 고딕"/>
                <a:ea typeface="맑은 고딕"/>
              </a:rPr>
              <a:t>빨간 박스 = 촬상 지점(TAB–패널 부착부) · Line-scan FOV 22.4 mm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  <a:ea typeface="맑은 고딕"/>
              </a:rPr>
              <a:t>모듈 상면 = 평탄부(추종) · 모듈 간극 = 딥(기각)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431536"/>
            <a:ext cx="4663440" cy="896112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41264"/>
            <a:ext cx="42976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78A0"/>
                </a:solidFill>
                <a:latin typeface="맑은 고딕"/>
                <a:ea typeface="맑은 고딕"/>
              </a:rPr>
              <a:t>유효 대역 설정 기준 — 정상 표면보다 넓고 단차보다 좁게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797296"/>
            <a:ext cx="429767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3838"/>
                </a:solidFill>
                <a:latin typeface="맑은 고딕"/>
                <a:ea typeface="맑은 고딕"/>
              </a:rPr>
              <a:t>실측 전 범위 1.243–1.413 mm (170 µm) · 정상 표면대 약 40 µm · 자재 단차 100–160 µm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901952"/>
            <a:ext cx="5925312" cy="2157984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98464" y="2066544"/>
            <a:ext cx="5449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① 유효 대역 기각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8464" y="2395728"/>
            <a:ext cx="5449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78A0"/>
                </a:solidFill>
                <a:latin typeface="Courier New"/>
                <a:ea typeface="Courier New"/>
              </a:rPr>
              <a:t>VOLTAGE_RANGE_REJECT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8464" y="2706624"/>
            <a:ext cx="54498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딥 100–160 µm = D.O.F. 3.5 µm 의 30–45배 — 주변 표면과 동시에 초점을 맞출 수 없다</a:t>
            </a:r>
          </a:p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추종하면 왕복 22.8 ms 동안 X축이 1.83 mm 를 지나가 앞뒤 정상 구간까지 손실</a:t>
            </a:r>
          </a:p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대역 밖 값은 기각하고 직전 유효 목표를 유지 — 지연 큐의 시간축은 그대로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4206240"/>
            <a:ext cx="5925312" cy="2157984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8464" y="4370831"/>
            <a:ext cx="5449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② 첫 데이터 즉시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8464" y="4700016"/>
            <a:ext cx="5449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78A0"/>
                </a:solidFill>
                <a:latin typeface="Courier New"/>
                <a:ea typeface="Courier New"/>
              </a:rPr>
              <a:t>First Data Immediate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5010912"/>
            <a:ext cx="54498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패널마다 두께·안착 높이가 달라 스캔 시작 시점의 Z 오프셋이 제각각이다</a:t>
            </a:r>
          </a:p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첫 유효 샘플을 지연 없이 즉시 적용하고, 두 번째부터 906 ms 지연 큐를 태운다</a:t>
            </a:r>
          </a:p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미적용 시 패널 앞 0.59 mm 초점 이탈 — 트리거 시점 Z 이동 여유는 122배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666735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770623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촬상 영역 상세 — 평탄–딥 구조의 실체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그림 8-1 의 촬상 띠를 단면으로 자른 것 — 11절 로그의 딥 주기 542 ms · 단차 163.5 µm 가 이 형상의 시간축 표현이다</a:t>
            </a:r>
          </a:p>
        </p:txBody>
      </p:sp>
      <p:pic>
        <p:nvPicPr>
          <p:cNvPr id="5" name="Picture 4" descr="panel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6" y="1847088"/>
            <a:ext cx="8641080" cy="33741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" y="5330952"/>
            <a:ext cx="2526030" cy="987552"/>
          </a:xfrm>
          <a:prstGeom prst="roundRect">
            <a:avLst>
              <a:gd name="adj" fmla="val 5000"/>
            </a:avLst>
          </a:prstGeom>
          <a:solidFill>
            <a:srgbClr val="FD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458968"/>
            <a:ext cx="216027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4F00"/>
                </a:solidFill>
                <a:latin typeface="맑은 고딕"/>
                <a:ea typeface="맑은 고딕"/>
              </a:rPr>
              <a:t>TAB-패널 부착부 평탄 정도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724144"/>
            <a:ext cx="216027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3838"/>
                </a:solidFill>
                <a:latin typeface="맑은 고딕"/>
                <a:ea typeface="맑은 고딕"/>
              </a:rPr>
              <a:t>추종 대상. 이 면들의 완만한 높이차가 실측 0.011 µm/ms 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2454" y="5330952"/>
            <a:ext cx="2526030" cy="987552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5334" y="5458968"/>
            <a:ext cx="216027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3838"/>
                </a:solidFill>
                <a:latin typeface="맑은 고딕"/>
                <a:ea typeface="맑은 고딕"/>
              </a:rPr>
              <a:t>TAB-TAB 사이 간극 — 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5334" y="5724144"/>
            <a:ext cx="216027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3838"/>
                </a:solidFill>
                <a:latin typeface="맑은 고딕"/>
                <a:ea typeface="맑은 고딕"/>
              </a:rPr>
              <a:t>바닥이 100–160 µm 아래. 경계 전이율 최대 82.3 µm/ms 로 기각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6228" y="5330952"/>
            <a:ext cx="2526030" cy="987552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9108" y="5458968"/>
            <a:ext cx="216027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302A"/>
                </a:solidFill>
                <a:latin typeface="맑은 고딕"/>
                <a:ea typeface="맑은 고딕"/>
              </a:rPr>
              <a:t>붉은 원 — 촬상 시작 지점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9108" y="5724144"/>
            <a:ext cx="216027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3838"/>
                </a:solidFill>
                <a:latin typeface="맑은 고딕"/>
                <a:ea typeface="맑은 고딕"/>
              </a:rPr>
              <a:t>광학모듈이 PANEL 시작점에 놓이는 곳 · 지연 큐의 기준점(3절)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0001" y="5330952"/>
            <a:ext cx="2526030" cy="987552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2881" y="5458968"/>
            <a:ext cx="216027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78A0"/>
                </a:solidFill>
                <a:latin typeface="맑은 고딕"/>
                <a:ea typeface="맑은 고딕"/>
              </a:rPr>
              <a:t>하단 — 실제 촬상 이미지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2881" y="5724144"/>
            <a:ext cx="216027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3838"/>
                </a:solidFill>
                <a:latin typeface="맑은 고딕"/>
                <a:ea typeface="맑은 고딕"/>
              </a:rPr>
              <a:t>그 지점의 Line-scan 결과. 리드·정렬 마크가 분해되면 정상 획득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693151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797039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센서 실측 신호 — 평탄부 · 딥 · 무신호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sensorTOOL 실측 파형이 실운전 로그 수치와 그대로 맞는다</a:t>
            </a:r>
          </a:p>
        </p:txBody>
      </p:sp>
      <p:pic>
        <p:nvPicPr>
          <p:cNvPr id="5" name="Picture 4" descr="sensortool-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6876288" cy="36202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22853" y="3251145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 i="0">
                <a:solidFill>
                  <a:srgbClr val="4478A0"/>
                </a:solidFill>
                <a:latin typeface="맑은 고딕"/>
                <a:ea typeface="맑은 고딕"/>
              </a:rPr>
              <a:t>평탄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6160" y="3251145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 i="0">
                <a:solidFill>
                  <a:srgbClr val="4478A0"/>
                </a:solidFill>
                <a:latin typeface="맑은 고딕"/>
                <a:ea typeface="맑은 고딕"/>
              </a:rPr>
              <a:t>평탄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9072" y="3251145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 i="0">
                <a:solidFill>
                  <a:srgbClr val="4478A0"/>
                </a:solidFill>
                <a:latin typeface="맑은 고딕"/>
                <a:ea typeface="맑은 고딕"/>
              </a:rPr>
              <a:t>평탄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19921" y="3251145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 i="0">
                <a:solidFill>
                  <a:srgbClr val="4478A0"/>
                </a:solidFill>
                <a:latin typeface="맑은 고딕"/>
                <a:ea typeface="맑은 고딕"/>
              </a:rPr>
              <a:t>평탄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653" y="3251145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 i="0">
                <a:solidFill>
                  <a:srgbClr val="4478A0"/>
                </a:solidFill>
                <a:latin typeface="맑은 고딕"/>
                <a:ea typeface="맑은 고딕"/>
              </a:rPr>
              <a:t>평탄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77642"/>
            <a:ext cx="68762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평탄부 5개와 그 사이 딥 4개 · 딥 간격 548 ms (화면 좌표) = 로그 542 ms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28431" y="1965960"/>
          <a:ext cx="3657600" cy="208483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011680"/>
                <a:gridCol w="164592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실운전 로그 기준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기준 전압 refV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4.3918 V (0.8784 mm)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유효 대역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4.00 – 4.55 V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평탄부 변화율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0.0110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단차 깊이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163.5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딥 주기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542 ms · 편차 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028431" y="4224528"/>
            <a:ext cx="3657600" cy="1481328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C0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352544"/>
            <a:ext cx="32552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0302A"/>
                </a:solidFill>
                <a:latin typeface="맑은 고딕"/>
                <a:ea typeface="맑은 고딕"/>
              </a:rPr>
              <a:t>무신호 = 측정값이 아닌 고정 출력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645152"/>
            <a:ext cx="32552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Distance 1.960 mm 를 가리키는 그 순간 Intensity 0.000 % · ShutterTime 1000 µs(최대) — 노출을 올려도 빛이 돌아오지 않는 상태. 값 흔들림은 1 LSB(0.061 µm)뿐이다.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961888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최소 0.677 · 최대 1.960 · 피크 대 피크 1.283 mm 가 로그 대조표(표 11-6)와 일치한다 — 화면과 로그가 독립적으로 같은 값을 가리킨다.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508239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612127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Z축 구동 능력 — 병목은 구동이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표 읽는 법 — 1 ms 사이에 표면이 그만큼 변할 때 Z축에 필요한 가속도·속도다. 현재 설정이 어디까지 감당하는지를 본다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993392"/>
          <a:ext cx="7086600" cy="280720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062990"/>
                <a:gridCol w="1062990"/>
                <a:gridCol w="1456690"/>
                <a:gridCol w="1141730"/>
                <a:gridCol w="2362200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 ms 변화량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높이 변화율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필요 가속도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[pulse/s²]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필요 속도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[pulse/s]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현재 설정 대비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Accel 200 M · Vel 150,000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5배 여유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80,000,000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2.5배 여유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60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6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120,000,000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60,000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1.7배 여유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100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10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200,000,000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현재 설정과 정확히 일치 · 지배 상한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150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15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300,000,000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150,000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가속도 부족 (속도는 충족)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400,000,000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둘 다 부족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11312" y="1993392"/>
            <a:ext cx="3474720" cy="111556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121408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478A0"/>
                </a:solidFill>
                <a:latin typeface="맑은 고딕"/>
                <a:ea typeface="맑은 고딕"/>
              </a:rPr>
              <a:t>D.O.F. 한 칸 보정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21408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0.84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32304"/>
            <a:ext cx="30723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v²/a = 112.5 &gt; 35 pulse → 삼각 프로파일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t = 2√(35 ÷ 2×10⁸) = 0.84 ms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최대 83,700 pulse/s = 상한의 17 %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1312" y="3172968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300984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478A0"/>
                </a:solidFill>
                <a:latin typeface="맑은 고딕"/>
                <a:ea typeface="맑은 고딕"/>
              </a:rPr>
              <a:t>그동안 시료 이동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300984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67 µm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611880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제어 주기 2회 · 높이 샘플 2개 · 906 ms 예비 시간의 1/1,080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4151376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279392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478A0"/>
                </a:solidFill>
                <a:latin typeface="맑은 고딕"/>
                <a:ea typeface="맑은 고딕"/>
              </a:rPr>
              <a:t>먼저 걸리는 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79392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가속도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590288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Vel 150,000 은 15 µm/ms 까지, Accel 200 M 은 10 µm/ms 까지 감당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175504"/>
            <a:ext cx="10908792" cy="420624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50" b="1" i="0">
                <a:solidFill>
                  <a:srgbClr val="002060"/>
                </a:solidFill>
                <a:latin typeface="맑은 고딕"/>
                <a:ea typeface="맑은 고딕"/>
              </a:rPr>
              <a:t>10 µm/ms 에서 필요 가속도 200 M 과 현재 설정이 정확히 일치하고, 초점 정확도(2.5 µm ÷ 0.25 ms)도 같은 지점에서 만족된다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5216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다만 여유가 정확히 0 인 균형점이다 — 초점 오차 2.5 µm + 데드밴드 1.0 µm = D.O.F. 3.5 µm. 사양으로 확정하려면 데드밴드 SKIP 으로 1 µm 를 회수해 두는 것이 안전하다.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257288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361176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실측 로그 검증 — 36,472행 · 6.9 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AutoFocus_20260813_144610.csv · 시퀀스 5,999 ms · 유효 대역 4.00–4.55 V · 사이클 9,340 / 유효 표본 3,025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901952"/>
          <a:ext cx="630936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84632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평탄 2 → 5 :  +17.8 µm / 1,626 ms  =  0.0110 µm/ms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901952"/>
            <a:ext cx="4233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478A0"/>
                </a:solidFill>
                <a:latin typeface="맑은 고딕"/>
                <a:ea typeface="맑은 고딕"/>
              </a:rPr>
              <a:t>네 상한에 실측을 대입한 여유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52360" y="2249424"/>
          <a:ext cx="4233671" cy="201168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208872"/>
                <a:gridCol w="920363"/>
                <a:gridCol w="1104436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상한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한계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[µm/ms]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평균 대비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여유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① FASTECH 500k pulse/s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50.0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4,560배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② Vel 150,000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15.0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1,368배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②′ Accel 200 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10.0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912배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③ 초점 정확도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10.0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912배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52360" y="4334256"/>
            <a:ext cx="423367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실측 요구 변화율 0.0110 µm/ms (X축 환산 0.137 µm/mm) · 순시 p99 1.879 µm/ms 는 센서 노이즈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여유 = 각 상한 ÷ 추종 대상 0.01097 µm/ms (평탄부 2→5 : +17.8 µm / 1,626 ms) → 10 ÷ 0.01097 = 912배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175504"/>
            <a:ext cx="5349240" cy="105156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5321808"/>
            <a:ext cx="49103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적용 시프트 — 계산 900.66 vs 실측 901.5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5614416"/>
            <a:ext cx="49103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Lead Control 이 실제로는 거의 걸리지 않는다. 주기당 지령 변화가 중앙값 0.03 µm(0.3 pulse)에 그쳐 선행 시간이 사실상 0 이다 — 오류가 아니라 예시값과 실동작의 차이다.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3952" y="5175504"/>
            <a:ext cx="5212080" cy="105156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5321808"/>
            <a:ext cx="47731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로깅 ON 조건에서의 비용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5614416"/>
            <a:ext cx="477316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FOCUS_DEBUG_LOG_PER_CYCLE_ENABLE = 1 인 Debug 빌드에서 주기 초과 5.84 %(538/9,218) · 최대 주기 19,500 µs — 진단 로그를 켠 채 타이밍을 평가하면 안 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336535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440423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측정된 패턴 — 추종 대상과 기각 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센서가 읽은 표면은 평탄부 5개와 단차 딥 4개가 규칙적으로 반복된다</a:t>
            </a:r>
          </a:p>
        </p:txBody>
      </p:sp>
      <p:pic>
        <p:nvPicPr>
          <p:cNvPr id="5" name="Picture 4" descr="surface-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83664"/>
            <a:ext cx="10817352" cy="309695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" y="5102352"/>
            <a:ext cx="5294376" cy="1225296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5230368"/>
            <a:ext cx="48554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추종 대상 — 평탄부의 완만한 높이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5522976"/>
            <a:ext cx="4855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평탄부 2 → 5 : +17.8 µm / 1,626 ms  =  0.0110 µm/ms</a:t>
            </a:r>
          </a:p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딥 주기 542 ms (4회 편차 0) · 평탄부 길이 424–429 ms ×5</a:t>
            </a:r>
          </a:p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유효 대역 0.800–0.910 mm 안 · refV 0.8784 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1656" y="5102352"/>
            <a:ext cx="5294376" cy="1225296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5230368"/>
            <a:ext cx="48554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02A"/>
                </a:solidFill>
                <a:latin typeface="맑은 고딕"/>
                <a:ea typeface="맑은 고딕"/>
              </a:rPr>
              <a:t>기각 대상 — 단차 딥과 그 경계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5522976"/>
            <a:ext cx="4855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깊이 163.5 µm · 길이 106–114 ms ×4 — 유효 대역 아래로 이탈</a:t>
            </a:r>
          </a:p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경계 전이율 중앙 8.06 · 최대 82.3 µm/ms 로 추종 한계 10 초과</a:t>
            </a:r>
          </a:p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기각 중에는 직전 유효 목표를 유지하고 시간축은 그대로 둔다(8절)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10057383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161271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전압 · 지령 궤적 — 같은 곡선이 901.5 ms 뒤에 나간다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산출(측정 시각)과 적용(축 전달)은 같은 곡선이고 시각만 다르다 — 그 간격이 선행 측정으로 확보한 예비 시간이다</a:t>
            </a:r>
          </a:p>
        </p:txBody>
      </p:sp>
      <p:pic>
        <p:nvPicPr>
          <p:cNvPr id="5" name="Picture 4" descr="volt-cmd-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883664"/>
            <a:ext cx="10058400" cy="39972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6053328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계산 900.66 ms 대비 실측 901.5 ms — Lead Control 이 실제로는 거의 걸리지 않기 때문이다(주기당 지령 변화 중앙값 0.03 µm). 이 901.5 는 결과값이므로 FocusDelayMs 에 넣지 않는다.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5513832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4617720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종합 판정 — 현 요구 충족</a:t>
            </a:r>
          </a:p>
        </p:txBody>
      </p:sp>
      <p:sp>
        <p:nvSpPr>
          <p:cNvPr id="4" name="Oval 3"/>
          <p:cNvSpPr/>
          <p:nvPr/>
        </p:nvSpPr>
        <p:spPr>
          <a:xfrm>
            <a:off x="1307592" y="1828800"/>
            <a:ext cx="1682496" cy="1682496"/>
          </a:xfrm>
          <a:prstGeom prst="ellipse">
            <a:avLst/>
          </a:prstGeom>
          <a:solidFill>
            <a:srgbClr val="DEEAF6"/>
          </a:solidFill>
          <a:ln w="31750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2560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HY견고딕"/>
                <a:ea typeface="HY견고딕"/>
              </a:rPr>
              <a:t>29 %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83838"/>
                </a:solidFill>
                <a:latin typeface="맑은 고딕"/>
                <a:ea typeface="맑은 고딕"/>
              </a:rPr>
              <a:t>D.O.F. 예산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684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오차 1.02 µm / 3.5 µm</a:t>
            </a:r>
          </a:p>
        </p:txBody>
      </p:sp>
      <p:sp>
        <p:nvSpPr>
          <p:cNvPr id="8" name="Oval 7"/>
          <p:cNvSpPr/>
          <p:nvPr/>
        </p:nvSpPr>
        <p:spPr>
          <a:xfrm>
            <a:off x="5102352" y="1828800"/>
            <a:ext cx="1682496" cy="1682496"/>
          </a:xfrm>
          <a:prstGeom prst="ellipse">
            <a:avLst/>
          </a:prstGeom>
          <a:solidFill>
            <a:srgbClr val="DEEAF6"/>
          </a:solidFill>
          <a:ln w="31750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2560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HY견고딕"/>
                <a:ea typeface="HY견고딕"/>
              </a:rPr>
              <a:t>23배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65760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83838"/>
                </a:solidFill>
                <a:latin typeface="맑은 고딕"/>
                <a:ea typeface="맑은 고딕"/>
              </a:rPr>
              <a:t>추종 한계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9684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0.43 → 10.0 µm/ms</a:t>
            </a:r>
          </a:p>
        </p:txBody>
      </p:sp>
      <p:sp>
        <p:nvSpPr>
          <p:cNvPr id="12" name="Oval 11"/>
          <p:cNvSpPr/>
          <p:nvPr/>
        </p:nvSpPr>
        <p:spPr>
          <a:xfrm>
            <a:off x="8897112" y="1828800"/>
            <a:ext cx="1682496" cy="1682496"/>
          </a:xfrm>
          <a:prstGeom prst="ellipse">
            <a:avLst/>
          </a:prstGeom>
          <a:solidFill>
            <a:srgbClr val="DEEAF6"/>
          </a:solidFill>
          <a:ln w="31750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377440"/>
            <a:ext cx="2560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HY견고딕"/>
                <a:ea typeface="HY견고딕"/>
              </a:rPr>
              <a:t>912배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65760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83838"/>
                </a:solidFill>
                <a:latin typeface="맑은 고딕"/>
                <a:ea typeface="맑은 고딕"/>
              </a:rPr>
              <a:t>실측 여유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9684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0.011 µm/ms vs 10 µm/ms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68680" y="4590288"/>
          <a:ext cx="10908790" cy="157276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845771"/>
                <a:gridCol w="3225208"/>
                <a:gridCol w="3794362"/>
                <a:gridCol w="104344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개발 목표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검증 결과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촬상 시점 초점 오차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≤ 3.5 µm (카메라 D.O.F.)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1.01 µm · 예산의 29 %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지연 재현 정확도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≤ 0.25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±0.25 ms (반주기 선보정)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제어 주기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≤ 1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500 µs · 38,007주기 초과 0회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Z축 추종 속도 · 부하율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≥ 10 µm/ms · 상한의 20 % 이내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10.0 µm/ms · 실동작 17 %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68680" y="4315968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맑은 고딕"/>
                <a:ea typeface="맑은 고딕"/>
              </a:rPr>
              <a:t>추종 한계 10.0 µm/ms 는 실측 조건 0.04 µm/ms 의 250배, 개발 목표 0.08 µm/ms 의 125배 — 이 여유가 「정상 이미지 획득」의 근거다.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164831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268719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피드포워드 파급 효과 및 확장 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구조가 지연 상수 하나로 닫히므로, 선행 센서 1대와 상수 하나만 맞추면 전사 광학 검사 장비의 표준 초점 모듈이 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83664"/>
            <a:ext cx="3337560" cy="2249424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202996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품질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" y="2340864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78A0"/>
                </a:solidFill>
                <a:latin typeface="맑은 고딕"/>
                <a:ea typeface="맑은 고딕"/>
              </a:rPr>
              <a:t>단차 구간에서도 정상 이미지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2651760"/>
            <a:ext cx="2880360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초점 오차 1.01 µm — D.O.F. 3.5 µm 예산의 29 % 만 사용</a:t>
            </a:r>
          </a:p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측정점과 보정점이 분리되어 헌팅이 구조적으로 없다</a:t>
            </a:r>
          </a:p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딥 100–160 µm 는 유효 대역에서 기각, Z 는 직전 목표 유지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883664"/>
            <a:ext cx="3337560" cy="2249424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202996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생산성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340864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78A0"/>
                </a:solidFill>
                <a:latin typeface="맑은 고딕"/>
                <a:ea typeface="맑은 고딕"/>
              </a:rPr>
              <a:t>증속 여유 912배를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5464" y="2651760"/>
            <a:ext cx="2880360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추종 한계 10 µm/ms 대 실측 요구 0.011 µm/ms</a:t>
            </a:r>
          </a:p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제어 주기 500 µs · 38,007주기 초과 0 회</a:t>
            </a:r>
          </a:p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증속해도 다시 잡을 값은 72.5 mm ÷ v 하나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59" y="1883664"/>
            <a:ext cx="3337560" cy="2249424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04503" y="202996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비용 · 이식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4503" y="2340864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78A0"/>
                </a:solidFill>
                <a:latin typeface="맑은 고딕"/>
                <a:ea typeface="맑은 고딕"/>
              </a:rPr>
              <a:t>엔코더 없이 개루프 구조 그대로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04503" y="2651760"/>
            <a:ext cx="2880360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Z축 모터·드라이버 교체 없이 설정만 바꿨다</a:t>
            </a:r>
          </a:p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0.43 → 10.0 µm/ms(23배)는 타이밍 정확도로 얻은 값</a:t>
            </a:r>
          </a:p>
          <a:p>
            <a:pPr algn="l" marL="160654" indent="-160654">
              <a:lnSpc>
                <a:spcPct val="120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선행 거리와 속도만 맞추면 타 장비에 그대로 이식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87952"/>
            <a:ext cx="10908792" cy="384048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확장 가능성 — 스캔 속도를 바꿔도 다시 잡을 값은 지연 상수 72.5 mm ÷ v 하나뿐이다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68680" y="4645152"/>
          <a:ext cx="10908791" cy="129844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103120"/>
                <a:gridCol w="1737360"/>
                <a:gridCol w="1325880"/>
                <a:gridCol w="1920240"/>
                <a:gridCol w="1737360"/>
                <a:gridCol w="2084831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스캔 속도 v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지연 상수 72.5 ÷ v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추종 여유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초점 오차 / D.O.F.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카메라 라인 레이트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1회 스캔 200 mm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80 mm/s  (현재)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906.25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912배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1.01 µm · 29 %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228.6 kHz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2.50 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EBF2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120 mm/s  (+50 %)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604.17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608배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1.02 µm · 29 %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342.9 kHz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1.67 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160 mm/s  (2배)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453.13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456배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1.02 µm · 29 %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457.1 kHz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1.25 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68680" y="5998464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추종 여유 = 10 µm/ms ÷ (0.137 µm/mm × v) · 초점 오차 = 데드밴드 1.00 µm + 양자화 0.25 ms × 변화율 — 데드밴드가 지배하므로 속도를 올려도 예산 사용률은 29 % 로 거의 그대로다</a:t>
            </a:r>
          </a:p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66666"/>
                </a:solidFill>
                <a:latin typeface="맑은 고딕"/>
                <a:ea typeface="맑은 고딕"/>
              </a:rPr>
              <a:t>증속의 실제 한계는 초점계가 아니라 카메라 라인 레이트와 조명 광량이다 · 10절 권고인 데드밴드 SKIP 을 적용하면 추종 한계가 14 µm/ms 로 올라가 여유가 한 단계 더 생긴다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6"/>
          <p:cNvSpPr txBox="1">
            <a:spLocks noChangeArrowheads="1"/>
          </p:cNvSpPr>
          <p:nvPr/>
        </p:nvSpPr>
        <p:spPr bwMode="auto">
          <a:xfrm>
            <a:off x="3048000" y="2938294"/>
            <a:ext cx="552693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 합니다</a:t>
            </a:r>
          </a:p>
        </p:txBody>
      </p:sp>
    </p:spTree>
    <p:extLst>
      <p:ext uri="{BB962C8B-B14F-4D97-AF65-F5344CB8AC3E}">
        <p14:creationId xmlns:p14="http://schemas.microsoft.com/office/powerpoint/2010/main" val="299302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39980</TotalTime>
  <Words>1289</Words>
  <Application>Microsoft Office PowerPoint</Application>
  <PresentationFormat>와이드스크린</PresentationFormat>
  <Paragraphs>214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32" baseType="lpstr">
      <vt:lpstr>Aharoni</vt:lpstr>
      <vt:lpstr>DM Sans</vt:lpstr>
      <vt:lpstr>HY견고딕</vt:lpstr>
      <vt:lpstr>Microsoft JhengHei</vt:lpstr>
      <vt:lpstr>굴림</vt:lpstr>
      <vt:lpstr>맑은 고딕</vt:lpstr>
      <vt:lpstr>한컴 윤고딕 230</vt:lpstr>
      <vt:lpstr>Arial</vt:lpstr>
      <vt:lpstr>Calibri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User</dc:creator>
  <cp:lastModifiedBy>user</cp:lastModifiedBy>
  <cp:revision>1476</cp:revision>
  <cp:lastPrinted>2021-06-09T03:01:30Z</cp:lastPrinted>
  <dcterms:created xsi:type="dcterms:W3CDTF">2018-05-04T07:28:01Z</dcterms:created>
  <dcterms:modified xsi:type="dcterms:W3CDTF">2025-10-29T23:14:10Z</dcterms:modified>
</cp:coreProperties>
</file>