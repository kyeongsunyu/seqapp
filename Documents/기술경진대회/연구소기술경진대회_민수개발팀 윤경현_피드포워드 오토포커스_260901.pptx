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08" r:id="rId2"/>
  </p:sldMasterIdLst>
  <p:notesMasterIdLst>
    <p:notesMasterId r:id="rId24"/>
  </p:notesMasterIdLst>
  <p:handoutMasterIdLst>
    <p:handoutMasterId r:id="rId25"/>
  </p:handoutMasterIdLst>
  <p:sldIdLst>
    <p:sldId id="257" r:id="rId3"/>
    <p:sldId id="602" r:id="rId11"/>
    <p:sldId id="603" r:id="rId12"/>
    <p:sldId id="604" r:id="rId13"/>
    <p:sldId id="605" r:id="rId14"/>
    <p:sldId id="606" r:id="rId15"/>
    <p:sldId id="607" r:id="rId16"/>
    <p:sldId id="608" r:id="rId17"/>
    <p:sldId id="609" r:id="rId18"/>
    <p:sldId id="610" r:id="rId19"/>
    <p:sldId id="611" r:id="rId20"/>
    <p:sldId id="612" r:id="rId21"/>
    <p:sldId id="613" r:id="rId22"/>
    <p:sldId id="614" r:id="rId10"/>
    <p:sldId id="615" r:id="rId9"/>
    <p:sldId id="616" r:id="rId8"/>
    <p:sldId id="617" r:id="rId7"/>
    <p:sldId id="618" r:id="rId6"/>
    <p:sldId id="619" r:id="rId5"/>
    <p:sldId id="601" r:id="rId23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97D"/>
    <a:srgbClr val="7E0000"/>
    <a:srgbClr val="EAEFF7"/>
    <a:srgbClr val="F4F5F8"/>
    <a:srgbClr val="7F7F7F"/>
    <a:srgbClr val="FF9900"/>
    <a:srgbClr val="033AA9"/>
    <a:srgbClr val="000000"/>
    <a:srgbClr val="333857"/>
    <a:srgbClr val="3C43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98" autoAdjust="0"/>
    <p:restoredTop sz="96391" autoAdjust="0"/>
  </p:normalViewPr>
  <p:slideViewPr>
    <p:cSldViewPr snapToGrid="0">
      <p:cViewPr varScale="1">
        <p:scale>
          <a:sx n="109" d="100"/>
          <a:sy n="109" d="100"/>
        </p:scale>
        <p:origin x="106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5" Type="http://schemas.openxmlformats.org/officeDocument/2006/relationships/slide" Target="slides/slide20.xml"/><Relationship Id="rId6" Type="http://schemas.openxmlformats.org/officeDocument/2006/relationships/slide" Target="slides/slide19.xml"/><Relationship Id="rId7" Type="http://schemas.openxmlformats.org/officeDocument/2006/relationships/slide" Target="slides/slide18.xml"/><Relationship Id="rId8" Type="http://schemas.openxmlformats.org/officeDocument/2006/relationships/slide" Target="slides/slide17.xml"/><Relationship Id="rId9" Type="http://schemas.openxmlformats.org/officeDocument/2006/relationships/slide" Target="slides/slide16.xml"/><Relationship Id="rId10" Type="http://schemas.openxmlformats.org/officeDocument/2006/relationships/slide" Target="slides/slide15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21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주기당 AXL API 소요 시간 (µs) · 합계 39.7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평균 소요 시간 (µs)</c:v>
                </c:pt>
              </c:strCache>
            </c:strRef>
          </c:tx>
          <c:spPr>
            <a:solidFill>
              <a:srgbClr val="5B9BD5"/>
            </a:solidFill>
          </c:spPr>
          <c:cat>
            <c:strRef>
              <c:f>Sheet1!$A$2:$A$5</c:f>
              <c:strCache>
                <c:ptCount val="4"/>
                <c:pt idx="0">
                  <c:v>AxmSignalReadInput</c:v>
                </c:pt>
                <c:pt idx="1">
                  <c:v>AxmStatusGetActPos</c:v>
                </c:pt>
                <c:pt idx="2">
                  <c:v>AxmStatusReadMotion</c:v>
                </c:pt>
                <c:pt idx="3">
                  <c:v>AxaiSwReadVoltage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17.2</c:v>
                </c:pt>
                <c:pt idx="1">
                  <c:v>9.4</c:v>
                </c:pt>
                <c:pt idx="2">
                  <c:v>9.3</c:v>
                </c:pt>
                <c:pt idx="3">
                  <c:v>3.8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초점 정확도 기준 · D.O.F. 예산 2.5 µm ÷ 잔존 시간 오차 (µm/ms)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추종 한계 (µm/ms)</c:v>
                </c:pt>
              </c:strCache>
            </c:strRef>
          </c:tx>
          <c:spPr>
            <a:solidFill>
              <a:srgbClr val="C5D6E8"/>
            </a:solidFill>
          </c:spPr>
          <c:dPt>
            <c:idx val="3"/>
            <c:spPr>
              <a:solidFill>
                <a:srgbClr val="4478A0"/>
              </a:solidFill>
            </c:spPr>
          </c:dPt>
          <c:dPt>
            <c:idx val="4"/>
            <c:spPr>
              <a:solidFill>
                <a:srgbClr val="A8C2DC"/>
              </a:solidFill>
            </c:spPr>
          </c:dPt>
          <c:cat>
            <c:strRef>
              <c:f>Sheet1!$A$2:$A$6</c:f>
              <c:strCache>
                <c:ptCount val="5"/>
                <c:pt idx="0">
                  <c:v>보상 전
Δt = 5.75 ms</c:v>
                </c:pt>
                <c:pt idx="1">
                  <c:v>필터만 보상
Δt = 1.25 ms</c:v>
                </c:pt>
                <c:pt idx="2">
                  <c:v>지연 보상 3종
Δt = 0.50 ms</c:v>
                </c:pt>
                <c:pt idx="3">
                  <c:v>현재 구현
Δt = ±0.25 ms</c:v>
                </c:pt>
                <c:pt idx="4">
                  <c:v>＋데드밴드 SKIP
예산 3.5 µm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0.43</c:v>
                </c:pt>
                <c:pt idx="1">
                  <c:v>2.0</c:v>
                </c:pt>
                <c:pt idx="2">
                  <c:v>5.0</c:v>
                </c:pt>
                <c:pt idx="3">
                  <c:v>10.0</c:v>
                </c:pt>
                <c:pt idx="4">
                  <c:v>14.0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추종 대상 — 단차를 걷어내면 남는 완만한 기울기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평탄부 중앙값 높이 (µm)</c:v>
                </c:pt>
              </c:strCache>
            </c:strRef>
          </c:tx>
          <c:spPr>
            <a:ln w="28575">
              <a:solidFill>
                <a:srgbClr val="4478A0"/>
              </a:solidFill>
            </a:ln>
          </c:spPr>
          <c:cat>
            <c:strRef>
              <c:f>Sheet1!$A$2:$A$6</c:f>
              <c:strCache>
                <c:ptCount val="5"/>
                <c:pt idx="0">
                  <c:v>평탄 1</c:v>
                </c:pt>
                <c:pt idx="1">
                  <c:v>평탄 2</c:v>
                </c:pt>
                <c:pt idx="2">
                  <c:v>평탄 3</c:v>
                </c:pt>
                <c:pt idx="3">
                  <c:v>평탄 4</c:v>
                </c:pt>
                <c:pt idx="4">
                  <c:v>평탄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847.1</c:v>
                </c:pt>
                <c:pt idx="1">
                  <c:v>840.3</c:v>
                </c:pt>
                <c:pt idx="2">
                  <c:v>846.2</c:v>
                </c:pt>
                <c:pt idx="3">
                  <c:v>851.9</c:v>
                </c:pt>
                <c:pt idx="4">
                  <c:v>858.2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70.0"/>
          <c:min val="830.0"/>
        </c:scaling>
        <c:delete val="0"/>
        <c:axPos val="l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5BDFFC02-3EDF-4AB8-B6F8-B02BE7C4FEFB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C5EF9307-5DFF-42BB-B3E3-75600E2C8D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41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1146BF4A-134A-4EE8-B76C-B0221396856D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6" tIns="45713" rIns="91426" bIns="4571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2" y="4714877"/>
            <a:ext cx="5438775" cy="4467225"/>
          </a:xfrm>
          <a:prstGeom prst="rect">
            <a:avLst/>
          </a:prstGeom>
        </p:spPr>
        <p:txBody>
          <a:bodyPr vert="horz" lIns="91426" tIns="45713" rIns="91426" bIns="45713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E741A83C-D21A-46A4-97DB-B6601E2E6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67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41A83C-D21A-46A4-97DB-B6601E2E6BA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48279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3571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 userDrawn="1"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786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한국전광_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 flipV="1">
            <a:off x="0" y="672862"/>
            <a:ext cx="12192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 sz="1800"/>
          </a:p>
        </p:txBody>
      </p:sp>
      <p:sp>
        <p:nvSpPr>
          <p:cNvPr id="5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4165600" y="6382237"/>
            <a:ext cx="3860800" cy="365125"/>
          </a:xfrm>
          <a:prstGeom prst="rect">
            <a:avLst/>
          </a:prstGeom>
        </p:spPr>
        <p:txBody>
          <a:bodyPr/>
          <a:lstStyle>
            <a:lvl1pPr eaLnBrk="1" latinLnBrk="1" hangingPunct="1">
              <a:defRPr/>
            </a:lvl1pPr>
          </a:lstStyle>
          <a:p>
            <a:endParaRPr lang="ko-KR" altLang="en-US" dirty="0"/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>
          <a:xfrm>
            <a:off x="293913" y="7938"/>
            <a:ext cx="11197167" cy="707366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417000"/>
            <a:ext cx="121920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86014" y="6434130"/>
            <a:ext cx="1705985" cy="418184"/>
          </a:xfrm>
          <a:prstGeom prst="rect">
            <a:avLst/>
          </a:prstGeom>
        </p:spPr>
      </p:pic>
      <p:sp>
        <p:nvSpPr>
          <p:cNvPr id="8" name="TextBox 7"/>
          <p:cNvSpPr txBox="1"/>
          <p:nvPr userDrawn="1"/>
        </p:nvSpPr>
        <p:spPr>
          <a:xfrm>
            <a:off x="0" y="6434131"/>
            <a:ext cx="27334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열린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 마음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신뢰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받는 행동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투명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한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Process</a:t>
            </a:r>
            <a:endParaRPr lang="ko-KR" altLang="en-US" sz="10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554232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615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769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1015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9023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20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165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3577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8298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7187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0598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476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3595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9455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721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540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5845659" y="2192636"/>
            <a:ext cx="5679592" cy="1232021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Microsoft JhengHei" panose="020B0604030504040204" pitchFamily="34" charset="-120"/>
            </a:endParaRPr>
          </a:p>
        </p:txBody>
      </p:sp>
      <p:sp>
        <p:nvSpPr>
          <p:cNvPr id="5" name="직사각형 4"/>
          <p:cNvSpPr/>
          <p:nvPr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9306" y="505153"/>
            <a:ext cx="1809751" cy="501161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686119" y="1642085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50000"/>
              </a:lnSpc>
            </a:pPr>
            <a:endParaRPr lang="en-US" altLang="ko-KR" sz="48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389785" y="1780054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400" b="1" dirty="0" smtClean="0">
                <a:solidFill>
                  <a:srgbClr val="002060"/>
                </a:solidFill>
                <a:latin typeface="HY견고딕"/>
                <a:cs typeface="Aharoni" panose="02010803020104030203" pitchFamily="2" charset="-79"/>
                <a:ea typeface="HY견고딕"/>
              </a:rPr>
              <a:t>피드포워드 오토포커스</a:t>
            </a:r>
            <a:endParaRPr lang="en-US" altLang="ko-KR" sz="5400" b="1" dirty="0">
              <a:solidFill>
                <a:srgbClr val="2C314F"/>
              </a:solidFill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endParaRPr lang="en-US" altLang="ko-KR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383838"/>
                </a:solidFill>
                <a:latin typeface="맑은 고딕"/>
                <a:ea typeface="맑은 고딕"/>
              </a:rPr>
              <a:t>민수개발팀   윤경현</a:t>
            </a:r>
            <a:endParaRPr lang="en-US" altLang="ko-KR" sz="3200" b="1" dirty="0" smtClean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lang="en-US" altLang="ko-KR" sz="3000" b="1" dirty="0" smtClean="0">
                <a:solidFill>
                  <a:srgbClr val="2C314F"/>
                </a:solidFill>
                <a:latin typeface="+mj-lt"/>
                <a:ea typeface="맑은 고딕" panose="020B0503020000020004" pitchFamily="50" charset="-127"/>
                <a:cs typeface="Aharoni" panose="02010803020104030203" pitchFamily="2" charset="-79"/>
              </a:rPr>
              <a:t>2026. 09. 01</a:t>
            </a:r>
            <a:endParaRPr lang="en-US" altLang="ko-KR" sz="24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10" name="Text 1"/>
          <p:cNvSpPr/>
          <p:nvPr/>
        </p:nvSpPr>
        <p:spPr>
          <a:xfrm>
            <a:off x="1417320" y="5342930"/>
            <a:ext cx="941832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DM Sans" pitchFamily="34" charset="-120"/>
              </a:rPr>
              <a:t>선행 Confocal 측정 기반 실시간 초점 제어 — 지연 상수 설계 검증 및 D.O.F. 오차 예산 분석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221126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01192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11581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개발 배경 및 개발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동축(Co-axial) AFM 의 두 가지 구조적 한계를 선행 측정 피드포워드로 해소한다</a:t>
            </a:r>
          </a:p>
        </p:txBody>
      </p:sp>
      <p:sp>
        <p:nvSpPr>
          <p:cNvPr id="5" name="Alternate process 4"/>
          <p:cNvSpPr/>
          <p:nvPr/>
        </p:nvSpPr>
        <p:spPr>
          <a:xfrm>
            <a:off x="8686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기술 개발 필요성</a:t>
            </a:r>
          </a:p>
        </p:txBody>
      </p:sp>
      <p:sp>
        <p:nvSpPr>
          <p:cNvPr id="6" name="Alternate process 5"/>
          <p:cNvSpPr/>
          <p:nvPr/>
        </p:nvSpPr>
        <p:spPr>
          <a:xfrm>
            <a:off x="63550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핵심 개선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33472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AFM 이 촬상 광축과 동축 — 측정 지점과 촬상 지점이 같다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감지 시점에 그 지점은 이미 촬상 중 → 보정이 항상 사후(事後)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루프 지연 약 2 ms · 80 mm/s 에서 160 µm 를 지난 뒤 도달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추종 범위 20 µm · 기울기 20 µm/mm — 단차에서 Defocus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자기 참조 폐루프라 게인을 올리면 헌팅, 낮추면 추종 지연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633472"/>
            <a:ext cx="51663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Confocal 변위센서를 촬상점 72.5 mm 전방에 선행 배치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측정값에 적용 시각을 부여해 906.25 ms 지연 큐에 보관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저장된 단차 데이터로 Z축을 미리 이동 — 피드포워드 개루프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대역폭 문제를 타이밍 정확도 문제로 전환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측정·보정 지점 분리 → 헌팅이 구조적으로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41324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2060"/>
                </a:solidFill>
                <a:latin typeface="맑은 고딕"/>
                <a:ea typeface="맑은 고딕"/>
              </a:rPr>
              <a:t>기존 구조는 오차를 「본 뒤에」 고쳤고, 신규 구조는 오차를 「보기 전에」 고친다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03504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출처 — 「Feedforward Autofocus System 개발」 한국전광(주) 민수개발팀, 2026-07-02 · 정량 해석은 확정 조건에서 역산한 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3677920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278180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핵심 성과 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예비 시간 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906.25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72.5 mm ÷ 80 mm/s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Z축 이동시간 0.84 ms 의 1,080배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375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추종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375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23배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지연 보상 4종 + 반주기 선보정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59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22791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촬상 시점 초점 오차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2791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D.O.F. 29 %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2791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1.01 µm / D.O.F. 3.5 µm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제어 주기 500 µs · 초과 0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38,007주기 연속 측정 · 1주기 작업시간은 예산의 42 %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3717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실측 여유 912 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717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추종 대상 0.011 µm/ms vs 지배 상한 10 µm/ms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59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5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추종 범위 200 µm 목표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5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기존 AFM 20 µm 의 10배 · 센서 범위 2 mm 로 여유 확보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321808"/>
            <a:ext cx="1090879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504688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83838"/>
                </a:solidFill>
                <a:latin typeface="맑은 고딕"/>
                <a:ea typeface="맑은 고딕"/>
              </a:rPr>
              <a:t>동축 피드백의 사후 보정 한계를 선행 측정 피드포워드로 해소 — 지연 상수의 유도, 코드 반영, 실측 로그가 모두 일치하며 현 요구 조건을 여유 있게 충족한다.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기존 동축 방식의 구조적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측정 지점과 촬상 지점이 같으면 미리 움직일 시간이 없다 — 세 한계는 모두 이 하나에서 나온다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642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지연 (Latency)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t loop = 센서·연산 1 ms + Z축 이동 0.85–1.32 ms ≈ 2 ms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80 mm/s 에서 160 µm 를 지난 뒤 보정이 도달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D.O.F. 소진 지점 = 3.5 µm ÷ 2 ms = 1.75 µm/ms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85546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좁은 추적 범위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Z축 추적 가능 높이 변화 20 µm — D.O.F. 의 5.7배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기울기 20 µm/mm → 스캔 80 mm/s 에서 Z축 1.6 mm/s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범위 이탈 시 추적 상실 → 재포착까지 검사 불능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04503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8007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급격한 단차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자재 딥 100–160 µm = D.O.F. 3.5 µm 의 30–45배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딥 추종에 주행 8 mm · 시간 100 ms 필요 (기존 AFM)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추종하지 못하고 Defocus 발생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864608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C0302A"/>
                </a:solidFill>
                <a:latin typeface="맑은 고딕"/>
                <a:ea typeface="맑은 고딕"/>
              </a:rPr>
              <a:t>이 하한은 소프트웨어로 개선되지 않는다 — 줄이려면 더 빠른 센서와 Z축이 필요하다. 루프를 빠르게 하는 대신 구조를 바꾸는 것이 유일한 해법이다.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907024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완만한 휨(요구 1.0 µm/mm)은 기존 AFM 으로도 담기는 영역이었다 — 실제 문제는 딥·급단차의 국부 기울기와 사후 보정 지연이다.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8346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9385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전환 — 선행 측정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74519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Confocal 센서 FS2404-2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Line-scan 카메라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084831"/>
            <a:ext cx="3246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72.5 mm</a:t>
            </a:r>
          </a:p>
        </p:txBody>
      </p:sp>
      <p:sp>
        <p:nvSpPr>
          <p:cNvPr id="7" name="Left-Right Arrow 6"/>
          <p:cNvSpPr/>
          <p:nvPr/>
        </p:nvSpPr>
        <p:spPr>
          <a:xfrm>
            <a:off x="4526280" y="2487168"/>
            <a:ext cx="3154680" cy="274320"/>
          </a:xfrm>
          <a:prstGeom prst="left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34440" y="3218688"/>
            <a:ext cx="9646920" cy="566928"/>
          </a:xfrm>
          <a:prstGeom prst="rect">
            <a:avLst/>
          </a:prstGeom>
          <a:solidFill>
            <a:srgbClr val="E9ECF1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0" i="0">
                <a:solidFill>
                  <a:srgbClr val="383838"/>
                </a:solidFill>
                <a:latin typeface="맑은 고딕"/>
                <a:ea typeface="맑은 고딕"/>
              </a:rPr>
              <a:t>자재 (패널 · 전체 길이 약 200 mm · 높이 편차 목표 200 µm)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226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662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1234440" y="3931920"/>
            <a:ext cx="2788920" cy="31089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스캔 방향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96849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3838"/>
                </a:solidFill>
                <a:latin typeface="맑은 고딕"/>
                <a:ea typeface="맑은 고딕"/>
              </a:rPr>
              <a:t>X축 80 mm/s (연속 이동)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517136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906.25 ms  =  72.5 mm ÷ 80 mm/s     —     센서가 읽은 지점이 촬상점에 도착하기까지의 예비 시간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Z축 이동시간의 1,080배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축이 목표에 도달하고도 한참을 기다린 뒤에 그 지점이 촬상된다. 대역폭이 아니라 타이밍 정확도가 성능을 정한다.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헌팅이 구조적으로 없다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측정과 보정이 다른 지점에서 일어나므로 Z를 움직여도 센서 값이 흔들리지 않는다 — 자기 참조 폐루프가 사라진다.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시스템 구성 — 측정 경로와 지령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47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측정 경로 — 아날로그</a:t>
            </a:r>
          </a:p>
        </p:txBody>
      </p:sp>
      <p:sp>
        <p:nvSpPr>
          <p:cNvPr id="5" name="Chevron 4"/>
          <p:cNvSpPr/>
          <p:nvPr/>
        </p:nvSpPr>
        <p:spPr>
          <a:xfrm>
            <a:off x="86868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자재 표면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높이 편차 200 µm</a:t>
            </a:r>
          </a:p>
        </p:txBody>
      </p:sp>
      <p:sp>
        <p:nvSpPr>
          <p:cNvPr id="6" name="Chevron 5"/>
          <p:cNvSpPr/>
          <p:nvPr/>
        </p:nvSpPr>
        <p:spPr>
          <a:xfrm>
            <a:off x="3021177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Confocal 프로브</a:t>
            </a:r>
          </a:p>
        </p:txBody>
      </p:sp>
      <p:sp>
        <p:nvSpPr>
          <p:cNvPr id="7" name="Chevron 6"/>
          <p:cNvSpPr/>
          <p:nvPr/>
        </p:nvSpPr>
        <p:spPr>
          <a:xfrm>
            <a:off x="5173675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0–10 V = 0–2 mm</a:t>
            </a:r>
          </a:p>
        </p:txBody>
      </p:sp>
      <p:sp>
        <p:nvSpPr>
          <p:cNvPr id="8" name="Chevron 7"/>
          <p:cNvSpPr/>
          <p:nvPr/>
        </p:nvSpPr>
        <p:spPr>
          <a:xfrm>
            <a:off x="7326172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SIO-AI8F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8채널 아날로그 입력</a:t>
            </a:r>
          </a:p>
        </p:txBody>
      </p:sp>
      <p:sp>
        <p:nvSpPr>
          <p:cNvPr id="9" name="Chevron 8"/>
          <p:cNvSpPr/>
          <p:nvPr/>
        </p:nvSpPr>
        <p:spPr>
          <a:xfrm>
            <a:off x="947867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제어 PC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AxaiSwReadVoltage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163824"/>
            <a:ext cx="10908792" cy="93268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제어 PC — HiPrecisionLoop 500 µs (QPC 기준)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IIR 필터 α = 0.10  →  데드밴드 ±5 mV  →  목표 위치 환산 ×2,000 pulse/V     ·     지연 큐 906.25 ms · 대기 약 1,813개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42816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지령 경로 — 펄스열</a:t>
            </a:r>
          </a:p>
        </p:txBody>
      </p:sp>
      <p:sp>
        <p:nvSpPr>
          <p:cNvPr id="12" name="Chevron 11"/>
          <p:cNvSpPr/>
          <p:nvPr/>
        </p:nvSpPr>
        <p:spPr>
          <a:xfrm>
            <a:off x="868680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AXT SMC-2V04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펄스 출력 최대 500 kpps</a:t>
            </a:r>
          </a:p>
        </p:txBody>
      </p:sp>
      <p:sp>
        <p:nvSpPr>
          <p:cNvPr id="13" name="Chevron 12"/>
          <p:cNvSpPr/>
          <p:nvPr/>
        </p:nvSpPr>
        <p:spPr>
          <a:xfrm>
            <a:off x="3559302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Ezi-STEP MI 28L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FASTECH 스테퍼 드라이브</a:t>
            </a:r>
          </a:p>
        </p:txBody>
      </p:sp>
      <p:sp>
        <p:nvSpPr>
          <p:cNvPr id="14" name="Chevron 13"/>
          <p:cNvSpPr/>
          <p:nvPr/>
        </p:nvSpPr>
        <p:spPr>
          <a:xfrm>
            <a:off x="6249924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BM 28L · Z축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1 pulse = 0.1 µm</a:t>
            </a:r>
          </a:p>
        </p:txBody>
      </p:sp>
      <p:sp>
        <p:nvSpPr>
          <p:cNvPr id="15" name="Chevron 14"/>
          <p:cNvSpPr/>
          <p:nvPr/>
        </p:nvSpPr>
        <p:spPr>
          <a:xfrm>
            <a:off x="8940546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카메라 초점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D.O.F. 예산 2.5 µm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614416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회로도(KEOC2604) ↔ 실행 시 소프트웨어 열거 대조 — 축 2 / AI 8채널 / AXT_PCIeB_LBExR : 전 항목 일치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엔코더 되먹임 배선 없음 — AxmStatusGetActPos 는 보드가 내보낸 펄스 누적값이다. 개루프라 헌팅은 없지만 Z축 실위치는 컨트롤러에서 검증할 수 없다.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89686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00075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상수 906.25 ms 의 유도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5074920" cy="1005840"/>
          </a:xfrm>
          <a:prstGeom prst="roundRect">
            <a:avLst>
              <a:gd name="adj" fmla="val 4000"/>
            </a:avLst>
          </a:prstGeom>
          <a:solidFill>
            <a:srgbClr val="F2EEEE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t delay  =  센서–카메라 거리 ÷ X축 속도</a:t>
            </a:r>
          </a:p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= 72.5 mm ÷ 80 mm/s  =  906.25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applyTime = sampleTime + 906.25 ms — 절대 시각 기준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주기를 1 ms → 500 µs 로 바꿔도 지연은 그대로 유지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「906 샘플」은 1 ms 주기 표현 · 500 µs 에서는 1,812 샘플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Setting.ini FocusDelayMs = 906.250 (double)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956816"/>
            <a:ext cx="53309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지연 큐 — 시간 기준 선형 버퍼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304288"/>
            <a:ext cx="1417320" cy="658368"/>
          </a:xfrm>
          <a:prstGeom prst="rect">
            <a:avLst/>
          </a:prstGeom>
          <a:solidFill>
            <a:srgbClr val="DDDDDD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304288"/>
            <a:ext cx="2514600" cy="658368"/>
          </a:xfrm>
          <a:prstGeom prst="rect">
            <a:avLst/>
          </a:prstGeom>
          <a:solidFill>
            <a:srgbClr val="5B9BD5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87000" y="2304288"/>
            <a:ext cx="13990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4871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소비 완료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8716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대기 중 · 약 1,813개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2487168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빈 공간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01752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readIndex
906 ms 전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01752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writeIndex
지금 측정한 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611880"/>
            <a:ext cx="53309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두 인덱스의 간격이 곧 지연 상수다. 링버퍼가 아니라 한 방향으로 전진하는 선형 버퍼(100,000 슬롯 = 50초분)이며, 끝에 닿으면 미소비 구간을 앞으로 압축한다.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809744"/>
            <a:ext cx="10908792" cy="67665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부수 효과 — 주기를 1 ms → 500 µs 로 줄이면서 X 방향 높이 샘플 간격이 80 µm → 40 µm 로 조밀해졌다 (짧은 주기의 요철 포착)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596128"/>
            <a:ext cx="109087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촬상 조건 (정상 획득 이미지 3,200 × 600,000 px · 8-bit · 1.8 GB 에서 역산)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스캔 라인 피치 0.333 µm/라인   ·   라인 레이트 240 kHz   ·   1회 스캔 2.5 s   ·   초점 갱신 간격 120 라인(X축 40 µm)   ·   선행 구간 약 217,500 라인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213856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317744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제어 주기 실측 검증 — 500 µs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실장비 측정값 · 실앱 20초 · 카메라 2채널 동시 구동 · 매 주기 로깅 OFF 조건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03120"/>
          <a:ext cx="5806440" cy="241401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612900"/>
                <a:gridCol w="1612900"/>
                <a:gridCol w="2580640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평균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40개 구간 전부 정확히 500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초과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 회 / 38,007주기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오차가 누적되지 않는 절대 시각 만기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지터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대부분 ±15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최악 구간 340–660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1주기 작업시간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평균 39.8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p99 45.2 µs / 최대 211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예산 사용률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42 %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최대치 211 µs ÷ 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967728" y="2011680"/>
          <a:ext cx="4718304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4901184"/>
            <a:ext cx="1090879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개별 주기가 튀어도 평균이 밀리지 않는 것은 만기를 절대 시각으로 잡기 때문이다 — 한 주기가 늦으면 다음 주기가 그만큼 짧아져 오차가 누적되지 않는다.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미검증 — 모션 명령(AxmOverridePosAbs / AxmMoveStartPos)의 소요 시간은 축이 실제로 움직여야 측정 가능해 아직 재지 않았다. 수락·거부율은 실측 로그로 정량화했다.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0063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1102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오차 예산 — 성분과 보상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e focus = Δt(지연 오차) × dz/dt(표면 높이 변화율) — 예측되고 보상되는 시간은 오차가 아니다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084831"/>
          <a:ext cx="10908790" cy="300837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958057"/>
                <a:gridCol w="1448069"/>
                <a:gridCol w="4440747"/>
                <a:gridCol w="1061917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IIR 필터 군지연  (1−α)/α = 9샘플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4.50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filterDelayUs 만큼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틱 양자화  GetTickCount64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큐 시각을 QPC 기준 applyTimeUs 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상수 절삭  906.25 → 906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delayTimeMs 를 double 로, 기본값 906.25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올림 절삭  기존 ceil() 정수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최대 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µs 단위 연산으로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이동 시간  35 pulse · a =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0.84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Control 로 이동시간만큼 선행 지령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만기 판정 편향  항상 늦는 쪽으로만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+0.25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반주기를 미리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 만기 판정 500 µs 격자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주기를 줄이는 것 외에 방법 없음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E04F00"/>
                          </a:solidFill>
                          <a:latin typeface="맑은 고딕"/>
                          <a:ea typeface="맑은 고딕"/>
                        </a:rPr>
                        <a:t>잔존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68680" y="5230368"/>
            <a:ext cx="5806440" cy="96012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적용 시각 계산</a:t>
            </a:r>
          </a:p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906,250 − 4,500(군지연) − 840(Z축 이동) − 250(반주기)  =  900,660 µs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67728" y="5230368"/>
            <a:ext cx="4718304" cy="96012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주의 — 상수를 손으로 빼지 말 것</a:t>
            </a:r>
          </a:p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FocusDelayMs 에는 물리값 906.250 을 그대로 넣는다. 보상은 코드가 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2144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2533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반주기 선보정 — 코드 한 줄로 Δt 절반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10908792" cy="548640"/>
          </a:xfrm>
          <a:prstGeom prst="roundRect">
            <a:avLst>
              <a:gd name="adj" fmla="val 5000"/>
            </a:avLst>
          </a:prstGeom>
          <a:solidFill>
            <a:srgbClr val="2C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 i="0">
                <a:solidFill>
                  <a:srgbClr val="FFFFFF"/>
                </a:solidFill>
                <a:latin typeface="Courier New"/>
                <a:ea typeface="Courier New"/>
              </a:rPr>
              <a:t>offsetUs  -=  FOCUS_LOOP_PERIOD_US / 2.0;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06624"/>
            <a:ext cx="4617720" cy="1481328"/>
          </a:xfrm>
          <a:prstGeom prst="roundRect">
            <a:avLst>
              <a:gd name="adj" fmla="val 4000"/>
            </a:avLst>
          </a:prstGeom>
          <a:solidFill>
            <a:srgbClr val="F3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889504"/>
            <a:ext cx="4114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보정 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310128"/>
            <a:ext cx="4114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[ 0, +500 )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+250 µs · 최대 500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늦는 쪽으로만 쌓이는 계통 편향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706624"/>
            <a:ext cx="5239512" cy="148132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2" y="2889504"/>
            <a:ext cx="4736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보정 후 — 현재 구현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2552" y="3310128"/>
            <a:ext cx="47365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( −250, +250 ]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0 µs · 최대 250 µs · RMS 144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부호가 아니라 크기로 소모되므로 유리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614416" y="3246120"/>
            <a:ext cx="658368" cy="40233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7083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만기 판정 nowUs &gt;= applyTimeUs 는 500 µs 격자에서만 일어나 항상 다음 주기에 걸린다 — 반주기를 미리 빼두면 평균이 0 이 되고 최대 절대오차가 절반이 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5230368"/>
            <a:ext cx="9509760" cy="146304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12680" y="5230368"/>
            <a:ext cx="731520" cy="14630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072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95324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03052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828032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측정 시각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828032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지령 시각  측정 + 900,660 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554126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촬상 시각  + 906,250 µs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5412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906.25 ms 예비 시간 — 이 구간 동안 값을 보관한다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961888"/>
            <a:ext cx="109087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보상 합계 5,590 µs = 필터 군지연 4,500 + Z축 이동 840 + 루프 반주기 250 — 전체 906 ms 의 0.62 % 구간이다.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추종 가능한 최대 높이 변화율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68680" y="1938528"/>
          <a:ext cx="67208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45552" y="1938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가지 상한 — 가장 작은 값이 실제 한계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5552" y="224942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① Z축 명령 상한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50 µm/ms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7004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FASTECH 500,000 pulse/s · 하드웨어 절대 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5552" y="307238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 Z축 속도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15 µm/ms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9300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pulse/s · 설정으로 조정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389534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②′ Z축 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 µm/ms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31596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Accel 200 M · 과도 응답 상한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45552" y="471830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③ 초점 정확도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10.0 µm/ms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13892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D.O.F. 예산 2.5 µm ÷ 0.25 ms · 정상상태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5552" y="5650992"/>
            <a:ext cx="3840480" cy="475488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지배 상한  10 µm/ms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797296"/>
            <a:ext cx="6720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66666"/>
                </a:solidFill>
                <a:latin typeface="맑은 고딕"/>
                <a:ea typeface="맑은 고딕"/>
              </a:rPr>
              <a:t>지배 상한에서 ②′와 ③이 같은 값에서 만난다 — 구동 능력과 초점 정확도가 동시에 한계에 닿는 균형점이라 어느 한쪽만 올려서는 전체가 오르지 않는다.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21004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31393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오차 예산과 D.O.F. 판정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6903719" cy="275234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15991"/>
                <a:gridCol w="1362576"/>
                <a:gridCol w="1362576"/>
                <a:gridCol w="1362576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실측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0.04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0.08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가정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1.0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(USE 시 고정)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필터 · 절삭 · 틱 · 편향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SKIP 시 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D.O.F. 3.5 µm 대비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36 %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092440" y="1993392"/>
            <a:ext cx="3593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D.O.F. 예산 사용률 · 개발 목표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2359152"/>
            <a:ext cx="3593592" cy="566928"/>
          </a:xfrm>
          <a:prstGeom prst="rect">
            <a:avLst/>
          </a:prstGeom>
          <a:solidFill>
            <a:srgbClr val="EE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2440" y="2359152"/>
            <a:ext cx="1047275" cy="566928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1.02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429000"/>
            <a:ext cx="3593592" cy="960120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34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535424"/>
            <a:ext cx="35935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데드밴드다. SKIP 하면 합계 0.02 µm — 예산의 1 % 미만이 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047488"/>
            <a:ext cx="10908792" cy="658368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 w="9525">
            <a:solidFill>
              <a:srgbClr val="E04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E04F00"/>
                </a:solidFill>
                <a:latin typeface="맑은 고딕"/>
                <a:ea typeface="맑은 고딕"/>
              </a:rPr>
              <a:t>단, 계단 응답은 별개다 — 1차 IIR 의 95 % 정착은 3τ = 14.2 ms 이고 그동안 X축은 1.14 mm(약 3,400 라인)를 지나간다. 큰 단차는 유효 대역에서 기각되므로 문제 구간은 대역 안에서 빠르게 변하는 곳뿐이다.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87044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지연 보상 전 예측 1.24 µm 에서 현재 1.01 µm 로 내려갔고, 가정 조건 1 µm/ms 도 초과(200 %)에서 통과(36 %)로 바뀌었다 — 계산이 「정상 이미지 획득」이라는 현장 결과와 일치한다.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5044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6083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자재 단차 대응과 초기 위치 정렬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앞 절이 「정상 신호일 때 얼마나 정확한가」라면, 여기는 신호가 깨질 때와 스캔이 시작될 때다</a:t>
            </a:r>
          </a:p>
        </p:txBody>
      </p:sp>
      <p:pic>
        <p:nvPicPr>
          <p:cNvPr id="5" name="Picture 4" descr="panel-scan-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01952"/>
            <a:ext cx="3986784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4992624"/>
            <a:ext cx="4663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빨간 박스 = 촬상 영역 · Line-scan FOV 22.4 mm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모듈 상면 = 평탄부(추종) · 모듈 간극 = 딥(기각)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431536"/>
            <a:ext cx="4663440" cy="89611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541264"/>
            <a:ext cx="42976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유효 대역 설정 기준 — 정상 표면보다 넓고 단차보다 좁게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797296"/>
            <a:ext cx="42976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실측 전 범위 1.243–1.413 mm (170 µm) · 정상 표면대 약 40 µm · 자재 단차 100–160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901952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98464" y="2066544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① 유효 대역 기각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98464" y="2395728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VOLTAGE_RANGE_REJECT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706624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= D.O.F. 3.5 µm 의 30–45배 — 주변 표면과 동시에 초점을 맞출 수 없다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추종하면 왕복 22.8 ms 동안 X축이 1.83 mm 를 지나가 앞뒤 정상 구간까지 손실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대역 밖 값은 기각하고 직전 유효 목표를 유지 — 지연 큐의 시간축은 그대로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4206240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98464" y="4370831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② 첫 데이터 즉시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98464" y="4700016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First Data Immediate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5010912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패널마다 두께·안착 높이가 달라 스캔 시작 시점의 Z 오프셋이 제각각이다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첫 유효 샘플을 지연 없이 즉시 적용하고, 두 번째부터 906 ms 지연 큐를 태운다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미적용 시 패널 앞 0.59 mm 초점 이탈 — 트리거 시점 Z 이동 여유는 122배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667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706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영역 상세 — 평탄–딥 구조의 실체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그림 8-1 의 빨간 띠를 단면으로 자른 것 — 11절 로그의 딥 주기 542 ms · 단차 163.5 µm 가 이 형상의 시간축 표현이다</a:t>
            </a:r>
          </a:p>
        </p:txBody>
      </p:sp>
      <p:pic>
        <p:nvPicPr>
          <p:cNvPr id="5" name="Picture 4" descr="panel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096" y="1847088"/>
            <a:ext cx="8641080" cy="33741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4F00"/>
                </a:solidFill>
                <a:latin typeface="맑은 고딕"/>
                <a:ea typeface="맑은 고딕"/>
              </a:rPr>
              <a:t>노란 모듈 상면 — 평탄부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추종 대상. 이 면들의 완만한 높이차가 실측 0.011 µm/ms 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2454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15334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모듈 사이 간극 — 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5334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바닥이 100–160 µm 아래. 유효 대역 밖이라 기각하고 직전 목표 유지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6228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9108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0302A"/>
                </a:solidFill>
                <a:latin typeface="맑은 고딕"/>
                <a:ea typeface="맑은 고딕"/>
              </a:rPr>
              <a:t>붉은 원 — 평탄–딥 경계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9108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전이율 중앙 8.06 · 최대 82.3 µm/ms 로 추종 한계 10 을 넘는다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60001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2881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하단 — 실제 촬상 이미지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2881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그 지점의 Line-scan 결과. 리드·정렬 마크가 분해되면 정상 획득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08239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12127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Z축 구동 능력 — 병목은 구동이 아니다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7086600" cy="280720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062990"/>
                <a:gridCol w="1062990"/>
                <a:gridCol w="1456690"/>
                <a:gridCol w="1141730"/>
                <a:gridCol w="2362200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 ms 변화량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높이 변화율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가속도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[pulse/s²]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현재 설정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Accel 200 M · Vel 150,000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1.7배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현재 설정과 정확히 일치 · 지배 상한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가속도 부족 (속도는 충족)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둘 다 부족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11312" y="1993392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D.O.F. 한 칸 보정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0.84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32304"/>
            <a:ext cx="307238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t = 2√(35 ÷ 2×10⁸) · 삼각 프로파일 · 최대 83,700 pulse/s = 상한의 17 %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11312" y="2971800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3099816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그동안 시료 이동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099816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67 µm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410712"/>
            <a:ext cx="307238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제어 주기 2회 · 높이 샘플 2개 · 906 ms 예비 시간의 1/1,080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3950208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07822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먼저 걸리는 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07822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389120"/>
            <a:ext cx="307238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은 15 µm/ms 까지, Accel 200 M 은 10 µm/ms 까지 감당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065776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10 µm/ms 에서 필요 가속도 200 M 과 현재 설정이 정확히 일치하고, 초점 정확도(2.5 µm ÷ 0.25 ms)도 같은 지점에서 만족된다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76072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다만 여유가 정확히 0 인 균형점이다 — 초점 오차 2.5 µm + 데드밴드 1.0 µm = D.O.F. 3.5 µm. 사양으로 확정하려면 데드밴드 SKIP 으로 1 µm 를 회수해 두는 것이 안전하다.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25728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36117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실측 로그 검증 — 36,472행 · 6.9 MB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AutoFocus_20260813_144610.csv · 시퀀스 5,999 ms · 유효 대역 4.00–4.55 V · 사이클 9,340 / 유효 표본 3,025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68680" y="1901952"/>
          <a:ext cx="630936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46320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평탄 2 → 5 :  +17.8 µm / 1,626 ms  =  0.0110 µm/ms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901952"/>
            <a:ext cx="4233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상한에 실측을 대입한 여유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52360" y="2249424"/>
          <a:ext cx="4233671" cy="201168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208872"/>
                <a:gridCol w="920363"/>
                <a:gridCol w="1104436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[µm/ms]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평균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① FASTECH 500k pulse/s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4,560배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② Vel 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1,368배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②′ Accel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③ 초점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52360" y="4370832"/>
            <a:ext cx="4233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실측 요구 변화율 0.0110 µm/ms (X축 환산 0.137 µm/mm)  ·  순시 p99 1.879 µm/ms 는 센서 노이즈 — 지배 상한 대비 순시 여유 5배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175504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5321808"/>
            <a:ext cx="49103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적용 시프트 — 계산 900.66 vs 실측 901.5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5614416"/>
            <a:ext cx="49103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이 실제로는 거의 걸리지 않는다. 주기당 지령 변화가 중앙값 0.03 µm(0.3 pulse)에 그쳐 선행 시간이 사실상 0 이다 — 오류가 아니라 예시값과 실동작의 차이다.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3952" y="5175504"/>
            <a:ext cx="521208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5321808"/>
            <a:ext cx="4773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로깅 ON 조건에서의 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5614416"/>
            <a:ext cx="4773168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FOCUS_DEBUG_LOG_PER_CYCLE_ENABLE = 1 인 Debug 빌드에서 주기 초과 5.84 %(538/9,218) · 최대 주기 19,500 µs — 진단 로그를 켠 채 타이밍을 평가하면 안 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0063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1102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모션 지령 결과 — 정반대의 두 실패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수락 여부를 가르는 것은 부하나 통신이 아니라 그 주기의 이동 거리 하나다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38528"/>
            <a:ext cx="3337560" cy="301752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938528"/>
            <a:ext cx="3337560" cy="566928"/>
          </a:xfrm>
          <a:prstGeom prst="roundRect">
            <a:avLst>
              <a:gd name="adj" fmla="val 3000"/>
            </a:avLst>
          </a:prstGeom>
          <a:solidFill>
            <a:srgbClr val="C03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거부 4151   IN_NONMOTION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건수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322건 · 69.4 %</a:t>
            </a:r>
          </a:p>
        </p:txBody>
      </p:sp>
      <p:sp>
        <p:nvSpPr>
          <p:cNvPr id="9" name="Rectangle 8"/>
          <p:cNvSpPr/>
          <p:nvPr/>
        </p:nvSpPr>
        <p:spPr>
          <a:xfrm>
            <a:off x="1106424" y="29626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이동량 p50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0.380 pulse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" y="34198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소요 시간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0.087 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06424" y="38770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6424" y="4078224"/>
            <a:ext cx="286207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명령이 도착했을 때 이미 멈춰 있었다 (가속 중으로 읽힘 97.8 %)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06424" y="4590288"/>
            <a:ext cx="1325880" cy="310896"/>
          </a:xfrm>
          <a:prstGeom prst="roundRect">
            <a:avLst>
              <a:gd name="adj" fmla="val 10000"/>
            </a:avLst>
          </a:prstGeom>
          <a:solidFill>
            <a:srgbClr val="C03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</a:rPr>
              <a:t>너무 빨라서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1938528"/>
            <a:ext cx="3337560" cy="301752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17720" y="1938528"/>
            <a:ext cx="3337560" cy="566928"/>
          </a:xfrm>
          <a:prstGeom prst="roundRect">
            <a:avLst>
              <a:gd name="adj" fmla="val 3000"/>
            </a:avLst>
          </a:prstGeom>
          <a:solidFill>
            <a:srgbClr val="1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수락   Override 성공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55464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건수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5464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36건 · 7.8 %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55464" y="29626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이동량 p50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5464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5.592 pulse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55464" y="34198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55464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소요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55464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0.334 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55464" y="38770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55464" y="4078224"/>
            <a:ext cx="286207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아직 가속 중이라 진로를 바꿀 여유가 남아 있는 좁은 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66759" y="1938528"/>
            <a:ext cx="3337560" cy="301752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366759" y="1938528"/>
            <a:ext cx="3337560" cy="566928"/>
          </a:xfrm>
          <a:prstGeom prst="roundRect">
            <a:avLst>
              <a:gd name="adj" fmla="val 3000"/>
            </a:avLst>
          </a:prstGeom>
          <a:solidFill>
            <a:srgbClr val="E04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거부 4168   CACULATION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04503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건수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3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106건 · 22.8 %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04503" y="29626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04503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이동량 p50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04503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29.022 pulse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04503" y="34198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04503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소요 시간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04503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0.762 ms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604503" y="38770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04503" y="4078224"/>
            <a:ext cx="286207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이미 계산된 감속 곡선을 남은 거리로 다시 짤 수 없었다 (감속 중 89.6 %)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04503" y="4590288"/>
            <a:ext cx="1325880" cy="310896"/>
          </a:xfrm>
          <a:prstGeom prst="roundRect">
            <a:avLst>
              <a:gd name="adj" fmla="val 10000"/>
            </a:avLst>
          </a:prstGeom>
          <a:solidFill>
            <a:srgbClr val="E04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</a:rPr>
              <a:t>너무 커서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" y="5138928"/>
            <a:ext cx="1090879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AxmMoveStartPos(축 정지 중) 5,224건은 전량 수락 — 전체 5,688건 중 수락 92.5 %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초점 오차로는 이어지지 않는다. 지령이 절대위치이므로 거부된 값은 누적되지 않고 다음 수락 지령이 올바른 좌표로 데려간다. 실측 회복 지연 p50 0 ms · p95 2 ms · 최대 8 ms, 그동안 목표가 낡는 양은 p95 1.30 µm(D.O.F. 예산의 37 %)로 최대치에서만 초과한다.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513832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617720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종합 판정 — 현 요구 충족</a:t>
            </a:r>
          </a:p>
        </p:txBody>
      </p:sp>
      <p:sp>
        <p:nvSpPr>
          <p:cNvPr id="4" name="Oval 3"/>
          <p:cNvSpPr/>
          <p:nvPr/>
        </p:nvSpPr>
        <p:spPr>
          <a:xfrm>
            <a:off x="130759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D.O.F. 예산 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오차 1.02 µm / 3.5 µm</a:t>
            </a:r>
          </a:p>
        </p:txBody>
      </p:sp>
      <p:sp>
        <p:nvSpPr>
          <p:cNvPr id="8" name="Oval 7"/>
          <p:cNvSpPr/>
          <p:nvPr/>
        </p:nvSpPr>
        <p:spPr>
          <a:xfrm>
            <a:off x="510235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23배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추종 한계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0.43 → 10.0 µm/ms</a:t>
            </a:r>
          </a:p>
        </p:txBody>
      </p:sp>
      <p:sp>
        <p:nvSpPr>
          <p:cNvPr id="12" name="Oval 11"/>
          <p:cNvSpPr/>
          <p:nvPr/>
        </p:nvSpPr>
        <p:spPr>
          <a:xfrm>
            <a:off x="889711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912배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실측 여유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0.011 µm/ms vs 10 µm/ms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68680" y="4590288"/>
          <a:ext cx="10908790" cy="157276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45771"/>
                <a:gridCol w="3225208"/>
                <a:gridCol w="3794362"/>
                <a:gridCol w="104344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검증 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촬상 시점 초점 오차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3.5 µm (카메라 D.O.F.)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예산의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재현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±0.25 ms (반주기 선보정)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500 µs · 38,007주기 초과 0회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추종 속도 · 부하율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≥ 10 µm/ms · 상한의 20 % 이내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10.0 µm/ms · 실동작 17 %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68680" y="431596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추종 한계 10.0 µm/ms 는 실측 조건 0.04 µm/ms 의 250배, 개발 목표 0.08 µm/ms 의 125배 — 이 여유가 「정상 이미지 획득」의 근거다.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1704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2743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권고 조치와 확장 가능성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현 요구는 이미 충족한다 — 아래는 장애 복구가 아니라 여유 확보가 목적이다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A. 측정으로 결정할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코드 수정이 아니라 검증 테스트로 결정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정지 상태 전압 노이즈(p-p) 실측 하나로 데드밴드·필터를 동시에 판단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노이즈가 ±1 µm(±5 mV)보다 작으면 데드밴드 SKIP 이 유리 — 예산 1.00 µm 회수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필터는 군지연이 보상되어 정상상태 기여 0 — 근거는 노이즈와 계단 응답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은 유지 — SKIP 시 Δt 1.09 ms, 추종 한계 2.3 µm/ms 로 하락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73952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9984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B. 10 µm/ms 를 사양화할 경우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9984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여유가 정확히 0 인 균형점이라 둘 중 하나 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9984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① 데드밴드 SKIP — 비용 없이 1 µm 회수해 14 µm/ms (우선 권고)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② 제어 주기 250 µs — 가속도 400 M 동반 필요 (작업시간 211 µs = 84 %)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계단 전이가 문제되면 대칭(zero-phase) 필터 — 추가 지연 비용 없음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Setting.ini [ITEM2] 미반영 — 2번 카메라 운용 시 함께 맞출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Z축 실위치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엔코더 되먹임이 없어 AxmStatusGetActPos 는 0.000. Confocal 기준 또는 외부 계측기 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888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초기 오프셋 분포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패널 간 초기 높이 편차. 10장 정도의 초기 거리값 기록으로 확인된다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59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792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확장 — 스캔 속도 증속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지연 상수 72.5 mm ÷ v 재계산. 120 mm/s → 604 ms · 추종 사양 동시 갱신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108192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구조가 지연 상수 하나로 닫히므로, 스캔 속도와 선행 거리만 바꾸면 동일 설계를 타 검사 장비에 그대로 이식할 수 있다 — 전사 광학 검사 장비의 표준 초점 모듈로 확장 가능하다.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136"/>
          <p:cNvSpPr txBox="1">
            <a:spLocks noChangeArrowheads="1"/>
          </p:cNvSpPr>
          <p:nvPr/>
        </p:nvSpPr>
        <p:spPr bwMode="auto">
          <a:xfrm>
            <a:off x="3048000" y="2938294"/>
            <a:ext cx="552693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ko-KR" altLang="en-US" sz="44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 합니다</a:t>
            </a:r>
          </a:p>
        </p:txBody>
      </p:sp>
    </p:spTree>
    <p:extLst>
      <p:ext uri="{BB962C8B-B14F-4D97-AF65-F5344CB8AC3E}">
        <p14:creationId xmlns:p14="http://schemas.microsoft.com/office/powerpoint/2010/main" val="2993025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39980</TotalTime>
  <Words>1289</Words>
  <Application>Microsoft Office PowerPoint</Application>
  <PresentationFormat>와이드스크린</PresentationFormat>
  <Paragraphs>214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32" baseType="lpstr">
      <vt:lpstr>Aharoni</vt:lpstr>
      <vt:lpstr>DM Sans</vt:lpstr>
      <vt:lpstr>HY견고딕</vt:lpstr>
      <vt:lpstr>Microsoft JhengHei</vt:lpstr>
      <vt:lpstr>굴림</vt:lpstr>
      <vt:lpstr>맑은 고딕</vt:lpstr>
      <vt:lpstr>한컴 윤고딕 230</vt:lpstr>
      <vt:lpstr>Arial</vt:lpstr>
      <vt:lpstr>Calibri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User</dc:creator>
  <cp:lastModifiedBy>user</cp:lastModifiedBy>
  <cp:revision>1476</cp:revision>
  <cp:lastPrinted>2021-06-09T03:01:30Z</cp:lastPrinted>
  <dcterms:created xsi:type="dcterms:W3CDTF">2018-05-04T07:28:01Z</dcterms:created>
  <dcterms:modified xsi:type="dcterms:W3CDTF">2025-10-29T23:14:10Z</dcterms:modified>
</cp:coreProperties>
</file>